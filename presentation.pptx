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ormorant Garamond Bold Italics" charset="1" panose="00000800000000000000"/>
      <p:regular r:id="rId25"/>
    </p:embeddedFont>
    <p:embeddedFont>
      <p:font typeface="Quicksand" charset="1" panose="00000000000000000000"/>
      <p:regular r:id="rId26"/>
    </p:embeddedFont>
    <p:embeddedFont>
      <p:font typeface="Quicksand Bold" charset="1" panose="00000000000000000000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2021142"/>
            <a:ext cx="16229942" cy="427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9"/>
              </a:lnSpc>
              <a:spcBef>
                <a:spcPct val="0"/>
              </a:spcBef>
            </a:pPr>
            <a:r>
              <a:rPr lang="en-US" b="true" sz="249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Book    rbit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839648" y="2998375"/>
            <a:ext cx="2801683" cy="2801683"/>
          </a:xfrm>
          <a:custGeom>
            <a:avLst/>
            <a:gdLst/>
            <a:ahLst/>
            <a:cxnLst/>
            <a:rect r="r" b="b" t="t" l="l"/>
            <a:pathLst>
              <a:path h="2801683" w="2801683">
                <a:moveTo>
                  <a:pt x="2801683" y="0"/>
                </a:moveTo>
                <a:lnTo>
                  <a:pt x="0" y="0"/>
                </a:lnTo>
                <a:lnTo>
                  <a:pt x="0" y="2801683"/>
                </a:lnTo>
                <a:lnTo>
                  <a:pt x="2801683" y="2801683"/>
                </a:lnTo>
                <a:lnTo>
                  <a:pt x="28016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37539" y="5908475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 .NET Clean Architecture BackEnd System.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49752" y="7032069"/>
            <a:ext cx="6988496" cy="107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Connecting students through the orbit of knowledge sharing.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2179" y="1967581"/>
            <a:ext cx="11643643" cy="52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TA : Amany Sherif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2965" y="2599893"/>
            <a:ext cx="1524207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2965" y="5907224"/>
            <a:ext cx="1524207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5116" y="3446031"/>
            <a:ext cx="534391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Adham Eltantawi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(Lead)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65129" y="3293549"/>
            <a:ext cx="534391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Abdelrahman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Mohye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4194" y="3382449"/>
            <a:ext cx="534391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Eyad Dawood</a:t>
            </a:r>
            <a:r>
              <a:rPr lang="en-US" sz="35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(Backend Lead)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031" y="7105218"/>
            <a:ext cx="534391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Abdelrahman Yasser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(Frontend Lead)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15387" y="7463111"/>
            <a:ext cx="534391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Abdelrahman Nof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2043" y="7368743"/>
            <a:ext cx="53439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Omar Ashr</a:t>
            </a:r>
            <a:r>
              <a:rPr lang="en-US" sz="3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9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0340947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The Problem &amp; Why It's Hard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886761" y="2050893"/>
            <a:ext cx="5974177" cy="3707787"/>
            <a:chOff x="0" y="0"/>
            <a:chExt cx="1573446" cy="9765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3446" cy="976537"/>
            </a:xfrm>
            <a:custGeom>
              <a:avLst/>
              <a:gdLst/>
              <a:ahLst/>
              <a:cxnLst/>
              <a:rect r="r" b="b" t="t" l="l"/>
              <a:pathLst>
                <a:path h="976537" w="1573446">
                  <a:moveTo>
                    <a:pt x="66091" y="0"/>
                  </a:moveTo>
                  <a:lnTo>
                    <a:pt x="1507355" y="0"/>
                  </a:lnTo>
                  <a:cubicBezTo>
                    <a:pt x="1543856" y="0"/>
                    <a:pt x="1573446" y="29590"/>
                    <a:pt x="1573446" y="66091"/>
                  </a:cubicBezTo>
                  <a:lnTo>
                    <a:pt x="1573446" y="910446"/>
                  </a:lnTo>
                  <a:cubicBezTo>
                    <a:pt x="1573446" y="946947"/>
                    <a:pt x="1543856" y="976537"/>
                    <a:pt x="1507355" y="976537"/>
                  </a:cubicBezTo>
                  <a:lnTo>
                    <a:pt x="66091" y="976537"/>
                  </a:lnTo>
                  <a:cubicBezTo>
                    <a:pt x="29590" y="976537"/>
                    <a:pt x="0" y="946947"/>
                    <a:pt x="0" y="910446"/>
                  </a:cubicBezTo>
                  <a:lnTo>
                    <a:pt x="0" y="66091"/>
                  </a:lnTo>
                  <a:cubicBezTo>
                    <a:pt x="0" y="29590"/>
                    <a:pt x="29590" y="0"/>
                    <a:pt x="6609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573446" cy="1100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03629" y="2087217"/>
            <a:ext cx="6307666" cy="7926352"/>
            <a:chOff x="0" y="0"/>
            <a:chExt cx="1661278" cy="20875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1278" cy="2087599"/>
            </a:xfrm>
            <a:custGeom>
              <a:avLst/>
              <a:gdLst/>
              <a:ahLst/>
              <a:cxnLst/>
              <a:rect r="r" b="b" t="t" l="l"/>
              <a:pathLst>
                <a:path h="2087599" w="1661278">
                  <a:moveTo>
                    <a:pt x="62597" y="0"/>
                  </a:moveTo>
                  <a:lnTo>
                    <a:pt x="1598682" y="0"/>
                  </a:lnTo>
                  <a:cubicBezTo>
                    <a:pt x="1633253" y="0"/>
                    <a:pt x="1661278" y="28025"/>
                    <a:pt x="1661278" y="62597"/>
                  </a:cubicBezTo>
                  <a:lnTo>
                    <a:pt x="1661278" y="2025002"/>
                  </a:lnTo>
                  <a:cubicBezTo>
                    <a:pt x="1661278" y="2059574"/>
                    <a:pt x="1633253" y="2087599"/>
                    <a:pt x="1598682" y="2087599"/>
                  </a:cubicBezTo>
                  <a:lnTo>
                    <a:pt x="62597" y="2087599"/>
                  </a:lnTo>
                  <a:cubicBezTo>
                    <a:pt x="45995" y="2087599"/>
                    <a:pt x="30073" y="2081004"/>
                    <a:pt x="18334" y="2069265"/>
                  </a:cubicBezTo>
                  <a:cubicBezTo>
                    <a:pt x="6595" y="2057526"/>
                    <a:pt x="0" y="2041604"/>
                    <a:pt x="0" y="2025002"/>
                  </a:cubicBezTo>
                  <a:lnTo>
                    <a:pt x="0" y="62597"/>
                  </a:lnTo>
                  <a:cubicBezTo>
                    <a:pt x="0" y="28025"/>
                    <a:pt x="28025" y="0"/>
                    <a:pt x="62597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661278" cy="2211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2955" y="5939655"/>
            <a:ext cx="5967984" cy="3951268"/>
            <a:chOff x="0" y="0"/>
            <a:chExt cx="1571815" cy="1040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1815" cy="1040663"/>
            </a:xfrm>
            <a:custGeom>
              <a:avLst/>
              <a:gdLst/>
              <a:ahLst/>
              <a:cxnLst/>
              <a:rect r="r" b="b" t="t" l="l"/>
              <a:pathLst>
                <a:path h="1040663" w="1571815">
                  <a:moveTo>
                    <a:pt x="66159" y="0"/>
                  </a:moveTo>
                  <a:lnTo>
                    <a:pt x="1505655" y="0"/>
                  </a:lnTo>
                  <a:cubicBezTo>
                    <a:pt x="1542194" y="0"/>
                    <a:pt x="1571815" y="29621"/>
                    <a:pt x="1571815" y="66159"/>
                  </a:cubicBezTo>
                  <a:lnTo>
                    <a:pt x="1571815" y="974504"/>
                  </a:lnTo>
                  <a:cubicBezTo>
                    <a:pt x="1571815" y="992050"/>
                    <a:pt x="1564844" y="1008878"/>
                    <a:pt x="1552437" y="1021286"/>
                  </a:cubicBezTo>
                  <a:cubicBezTo>
                    <a:pt x="1540030" y="1033693"/>
                    <a:pt x="1523202" y="1040663"/>
                    <a:pt x="1505655" y="1040663"/>
                  </a:cubicBezTo>
                  <a:lnTo>
                    <a:pt x="66159" y="1040663"/>
                  </a:lnTo>
                  <a:cubicBezTo>
                    <a:pt x="48613" y="1040663"/>
                    <a:pt x="31785" y="1033693"/>
                    <a:pt x="19378" y="1021286"/>
                  </a:cubicBezTo>
                  <a:cubicBezTo>
                    <a:pt x="6970" y="1008878"/>
                    <a:pt x="0" y="992050"/>
                    <a:pt x="0" y="974504"/>
                  </a:cubicBezTo>
                  <a:lnTo>
                    <a:pt x="0" y="66159"/>
                  </a:lnTo>
                  <a:cubicBezTo>
                    <a:pt x="0" y="48613"/>
                    <a:pt x="6970" y="31785"/>
                    <a:pt x="19378" y="19378"/>
                  </a:cubicBezTo>
                  <a:cubicBezTo>
                    <a:pt x="31785" y="6970"/>
                    <a:pt x="48613" y="0"/>
                    <a:pt x="66159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571815" cy="1164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238799" y="1685368"/>
            <a:ext cx="3437326" cy="3437326"/>
          </a:xfrm>
          <a:custGeom>
            <a:avLst/>
            <a:gdLst/>
            <a:ahLst/>
            <a:cxnLst/>
            <a:rect r="r" b="b" t="t" l="l"/>
            <a:pathLst>
              <a:path h="3437326" w="3437326">
                <a:moveTo>
                  <a:pt x="0" y="0"/>
                </a:moveTo>
                <a:lnTo>
                  <a:pt x="3437326" y="0"/>
                </a:lnTo>
                <a:lnTo>
                  <a:pt x="3437326" y="3437325"/>
                </a:lnTo>
                <a:lnTo>
                  <a:pt x="0" y="343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17549" y="6207157"/>
            <a:ext cx="1457262" cy="1457262"/>
          </a:xfrm>
          <a:custGeom>
            <a:avLst/>
            <a:gdLst/>
            <a:ahLst/>
            <a:cxnLst/>
            <a:rect r="r" b="b" t="t" l="l"/>
            <a:pathLst>
              <a:path h="1457262" w="1457262">
                <a:moveTo>
                  <a:pt x="0" y="0"/>
                </a:moveTo>
                <a:lnTo>
                  <a:pt x="1457262" y="0"/>
                </a:lnTo>
                <a:lnTo>
                  <a:pt x="1457262" y="1457262"/>
                </a:lnTo>
                <a:lnTo>
                  <a:pt x="0" y="1457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7549" y="2330831"/>
            <a:ext cx="1510539" cy="1510539"/>
          </a:xfrm>
          <a:custGeom>
            <a:avLst/>
            <a:gdLst/>
            <a:ahLst/>
            <a:cxnLst/>
            <a:rect r="r" b="b" t="t" l="l"/>
            <a:pathLst>
              <a:path h="1510539" w="1510539">
                <a:moveTo>
                  <a:pt x="0" y="0"/>
                </a:moveTo>
                <a:lnTo>
                  <a:pt x="1510539" y="0"/>
                </a:lnTo>
                <a:lnTo>
                  <a:pt x="1510539" y="1510538"/>
                </a:lnTo>
                <a:lnTo>
                  <a:pt x="0" y="1510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>
            <a:off x="6860939" y="3297158"/>
            <a:ext cx="2471345" cy="821247"/>
          </a:xfrm>
          <a:custGeom>
            <a:avLst/>
            <a:gdLst/>
            <a:ahLst/>
            <a:cxnLst/>
            <a:rect r="r" b="b" t="t" l="l"/>
            <a:pathLst>
              <a:path h="821247" w="2471345">
                <a:moveTo>
                  <a:pt x="0" y="0"/>
                </a:moveTo>
                <a:lnTo>
                  <a:pt x="2242745" y="0"/>
                </a:lnTo>
                <a:cubicBezTo>
                  <a:pt x="2368997" y="0"/>
                  <a:pt x="2471345" y="102348"/>
                  <a:pt x="2471345" y="228600"/>
                </a:cubicBezTo>
                <a:lnTo>
                  <a:pt x="2471345" y="821248"/>
                </a:lnTo>
              </a:path>
            </a:pathLst>
          </a:custGeom>
          <a:ln cap="flat" w="57150">
            <a:solidFill>
              <a:srgbClr val="0F466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6" id="16"/>
          <p:cNvSpPr/>
          <p:nvPr/>
        </p:nvSpPr>
        <p:spPr>
          <a:xfrm>
            <a:off x="10113678" y="7441227"/>
            <a:ext cx="1663790" cy="1192613"/>
          </a:xfrm>
          <a:custGeom>
            <a:avLst/>
            <a:gdLst/>
            <a:ahLst/>
            <a:cxnLst/>
            <a:rect r="r" b="b" t="t" l="l"/>
            <a:pathLst>
              <a:path h="1192613" w="1663790">
                <a:moveTo>
                  <a:pt x="0" y="0"/>
                </a:moveTo>
                <a:lnTo>
                  <a:pt x="0" y="964013"/>
                </a:lnTo>
                <a:cubicBezTo>
                  <a:pt x="0" y="1090265"/>
                  <a:pt x="102348" y="1192613"/>
                  <a:pt x="228600" y="1192613"/>
                </a:cubicBezTo>
                <a:lnTo>
                  <a:pt x="1663790" y="1192613"/>
                </a:lnTo>
              </a:path>
            </a:pathLst>
          </a:custGeom>
          <a:ln cap="flat" w="57150">
            <a:solidFill>
              <a:srgbClr val="0F466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6860939" y="7441227"/>
            <a:ext cx="1761639" cy="1172393"/>
          </a:xfrm>
          <a:custGeom>
            <a:avLst/>
            <a:gdLst/>
            <a:ahLst/>
            <a:cxnLst/>
            <a:rect r="r" b="b" t="t" l="l"/>
            <a:pathLst>
              <a:path h="1172393" w="1761639">
                <a:moveTo>
                  <a:pt x="0" y="1172393"/>
                </a:moveTo>
                <a:lnTo>
                  <a:pt x="1533039" y="1172393"/>
                </a:lnTo>
                <a:cubicBezTo>
                  <a:pt x="1659291" y="1172393"/>
                  <a:pt x="1761639" y="1070045"/>
                  <a:pt x="1761639" y="943793"/>
                </a:cubicBezTo>
                <a:lnTo>
                  <a:pt x="1761639" y="0"/>
                </a:lnTo>
              </a:path>
            </a:pathLst>
          </a:custGeom>
          <a:ln cap="flat" w="57150">
            <a:solidFill>
              <a:srgbClr val="0F466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469794" y="4111194"/>
            <a:ext cx="3773408" cy="3330033"/>
          </a:xfrm>
          <a:custGeom>
            <a:avLst/>
            <a:gdLst/>
            <a:ahLst/>
            <a:cxnLst/>
            <a:rect r="r" b="b" t="t" l="l"/>
            <a:pathLst>
              <a:path h="3330033" w="3773408">
                <a:moveTo>
                  <a:pt x="0" y="0"/>
                </a:moveTo>
                <a:lnTo>
                  <a:pt x="3773408" y="0"/>
                </a:lnTo>
                <a:lnTo>
                  <a:pt x="3773408" y="3330033"/>
                </a:lnTo>
                <a:lnTo>
                  <a:pt x="0" y="33300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16056" y="2807131"/>
            <a:ext cx="3569375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Financial Waste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67872" y="4746138"/>
            <a:ext cx="5779180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Zero Trust &amp; Identity Mandate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61050" y="6604000"/>
            <a:ext cx="367938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State Complexity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053" y="4061256"/>
            <a:ext cx="5897886" cy="144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5"/>
              </a:lnSpc>
              <a:spcBef>
                <a:spcPct val="0"/>
              </a:spcBef>
            </a:pPr>
            <a:r>
              <a:rPr lang="en-US" sz="2775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Students waste money on textbooks by abandoning them after a single semester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61778" y="6286514"/>
            <a:ext cx="5991367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 trusted, centralized platform exists for secure student-to-student</a:t>
            </a:r>
            <a:r>
              <a:rPr lang="en-US" sz="30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lending. Identity trust is non-negotiable — only verified university students can participate in the ecosystem.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3053" y="7858139"/>
            <a:ext cx="5819100" cy="193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5"/>
              </a:lnSpc>
              <a:spcBef>
                <a:spcPct val="0"/>
              </a:spcBef>
            </a:pPr>
            <a:r>
              <a:rPr lang="en-US" sz="2775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Peer-to-peer lending requires strict transaction state integrity — one missed transition breaks the entire chain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5849"/>
            <a:ext cx="2996989" cy="10271151"/>
            <a:chOff x="0" y="0"/>
            <a:chExt cx="78933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9331" cy="2705159"/>
            </a:xfrm>
            <a:custGeom>
              <a:avLst/>
              <a:gdLst/>
              <a:ahLst/>
              <a:cxnLst/>
              <a:rect r="r" b="b" t="t" l="l"/>
              <a:pathLst>
                <a:path h="2705159" w="789331">
                  <a:moveTo>
                    <a:pt x="0" y="0"/>
                  </a:moveTo>
                  <a:lnTo>
                    <a:pt x="789331" y="0"/>
                  </a:lnTo>
                  <a:lnTo>
                    <a:pt x="78933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8933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5995" y="594762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5995" y="8005891"/>
            <a:ext cx="1883112" cy="1883112"/>
          </a:xfrm>
          <a:custGeom>
            <a:avLst/>
            <a:gdLst/>
            <a:ahLst/>
            <a:cxnLst/>
            <a:rect r="r" b="b" t="t" l="l"/>
            <a:pathLst>
              <a:path h="1883112" w="1883112">
                <a:moveTo>
                  <a:pt x="0" y="0"/>
                </a:moveTo>
                <a:lnTo>
                  <a:pt x="1883111" y="0"/>
                </a:lnTo>
                <a:lnTo>
                  <a:pt x="1883111" y="1883112"/>
                </a:lnTo>
                <a:lnTo>
                  <a:pt x="0" y="1883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2653" y="5632261"/>
            <a:ext cx="2135505" cy="2135505"/>
          </a:xfrm>
          <a:custGeom>
            <a:avLst/>
            <a:gdLst/>
            <a:ahLst/>
            <a:cxnLst/>
            <a:rect r="r" b="b" t="t" l="l"/>
            <a:pathLst>
              <a:path h="2135505" w="2135505">
                <a:moveTo>
                  <a:pt x="0" y="0"/>
                </a:moveTo>
                <a:lnTo>
                  <a:pt x="2135504" y="0"/>
                </a:lnTo>
                <a:lnTo>
                  <a:pt x="2135504" y="2135505"/>
                </a:lnTo>
                <a:lnTo>
                  <a:pt x="0" y="2135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2653" y="3398770"/>
            <a:ext cx="2086482" cy="2086482"/>
          </a:xfrm>
          <a:custGeom>
            <a:avLst/>
            <a:gdLst/>
            <a:ahLst/>
            <a:cxnLst/>
            <a:rect r="r" b="b" t="t" l="l"/>
            <a:pathLst>
              <a:path h="2086482" w="2086482">
                <a:moveTo>
                  <a:pt x="0" y="0"/>
                </a:moveTo>
                <a:lnTo>
                  <a:pt x="2086482" y="0"/>
                </a:lnTo>
                <a:lnTo>
                  <a:pt x="2086482" y="2086482"/>
                </a:lnTo>
                <a:lnTo>
                  <a:pt x="0" y="20864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5479" y="1115072"/>
            <a:ext cx="2289852" cy="2289852"/>
          </a:xfrm>
          <a:custGeom>
            <a:avLst/>
            <a:gdLst/>
            <a:ahLst/>
            <a:cxnLst/>
            <a:rect r="r" b="b" t="t" l="l"/>
            <a:pathLst>
              <a:path h="2289852" w="2289852">
                <a:moveTo>
                  <a:pt x="0" y="0"/>
                </a:moveTo>
                <a:lnTo>
                  <a:pt x="2289852" y="0"/>
                </a:lnTo>
                <a:lnTo>
                  <a:pt x="2289852" y="2289852"/>
                </a:lnTo>
                <a:lnTo>
                  <a:pt x="0" y="2289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97733" y="72166"/>
            <a:ext cx="11175775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i="true" b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The Solution: BookOrbit at a Glance</a:t>
            </a:r>
          </a:p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177" y="1709722"/>
            <a:ext cx="732055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Verify Email &amp; Admin Approve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48436" y="2295579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Secures the platform through admin-gated onboarding utilizing mandatory university email verification.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00177" y="3790049"/>
            <a:ext cx="410479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Shar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 Catalog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48436" y="4375907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 the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 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physic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 BookC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ow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ners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nforce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sourc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ruth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00177" y="5819075"/>
            <a:ext cx="465058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rowse &amp; Request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48436" y="6404932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Allows 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 list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hysic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ok copies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while 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ers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wse, req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est,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ge bor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row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ing li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0177" y="8066508"/>
            <a:ext cx="439364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Stat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Transitions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48436" y="8652365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Manag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 the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rowing lifecycle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through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ct 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s: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nding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ccep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ejec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celled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009029" cy="10287000"/>
            <a:chOff x="0" y="0"/>
            <a:chExt cx="15826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26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82625">
                  <a:moveTo>
                    <a:pt x="0" y="0"/>
                  </a:moveTo>
                  <a:lnTo>
                    <a:pt x="1582625" y="0"/>
                  </a:lnTo>
                  <a:lnTo>
                    <a:pt x="15826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582625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1656" y="497273"/>
            <a:ext cx="12367444" cy="95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4"/>
              </a:lnSpc>
              <a:spcBef>
                <a:spcPct val="0"/>
              </a:spcBef>
            </a:pPr>
            <a:r>
              <a:rPr lang="en-US" b="true" sz="5624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System Architecture — Clean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031" y="1942304"/>
            <a:ext cx="5508427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Api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(Controllers, Middleware)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031" y="3526499"/>
            <a:ext cx="5211485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Infrastructur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(EF Core, Identity, JWT)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031" y="5362980"/>
            <a:ext cx="5123498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Appl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ication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(CQRS, MediatR, DTOs)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86" y="7198130"/>
            <a:ext cx="5828943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Domain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</a:t>
            </a:r>
            <a:r>
              <a:rPr lang="en-US" sz="3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(Entiti</a:t>
            </a:r>
            <a:r>
              <a:rPr lang="en-US" sz="30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es, Value Objects, Events)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601333" y="602048"/>
            <a:ext cx="2049125" cy="304807"/>
          </a:xfrm>
          <a:custGeom>
            <a:avLst/>
            <a:gdLst/>
            <a:ahLst/>
            <a:cxnLst/>
            <a:rect r="r" b="b" t="t" l="l"/>
            <a:pathLst>
              <a:path h="304807" w="2049125">
                <a:moveTo>
                  <a:pt x="0" y="0"/>
                </a:moveTo>
                <a:lnTo>
                  <a:pt x="2049124" y="0"/>
                </a:lnTo>
                <a:lnTo>
                  <a:pt x="2049124" y="304808"/>
                </a:lnTo>
                <a:lnTo>
                  <a:pt x="0" y="304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031" y="9539835"/>
            <a:ext cx="2070613" cy="308004"/>
          </a:xfrm>
          <a:custGeom>
            <a:avLst/>
            <a:gdLst/>
            <a:ahLst/>
            <a:cxnLst/>
            <a:rect r="r" b="b" t="t" l="l"/>
            <a:pathLst>
              <a:path h="308004" w="2070613">
                <a:moveTo>
                  <a:pt x="0" y="0"/>
                </a:moveTo>
                <a:lnTo>
                  <a:pt x="2070613" y="0"/>
                </a:lnTo>
                <a:lnTo>
                  <a:pt x="2070613" y="308004"/>
                </a:lnTo>
                <a:lnTo>
                  <a:pt x="0" y="308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9840" y="1028700"/>
            <a:ext cx="19720529" cy="11092797"/>
          </a:xfrm>
          <a:custGeom>
            <a:avLst/>
            <a:gdLst/>
            <a:ahLst/>
            <a:cxnLst/>
            <a:rect r="r" b="b" t="t" l="l"/>
            <a:pathLst>
              <a:path h="11092797" w="19720529">
                <a:moveTo>
                  <a:pt x="0" y="0"/>
                </a:moveTo>
                <a:lnTo>
                  <a:pt x="19720529" y="0"/>
                </a:lnTo>
                <a:lnTo>
                  <a:pt x="19720529" y="11092797"/>
                </a:lnTo>
                <a:lnTo>
                  <a:pt x="0" y="11092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286" y="428942"/>
            <a:ext cx="1057040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Domain Layer — Entity Hierarchy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69434" y="-2155976"/>
            <a:ext cx="27426869" cy="15427614"/>
          </a:xfrm>
          <a:custGeom>
            <a:avLst/>
            <a:gdLst/>
            <a:ahLst/>
            <a:cxnLst/>
            <a:rect r="r" b="b" t="t" l="l"/>
            <a:pathLst>
              <a:path h="15427614" w="27426869">
                <a:moveTo>
                  <a:pt x="0" y="0"/>
                </a:moveTo>
                <a:lnTo>
                  <a:pt x="27426868" y="0"/>
                </a:lnTo>
                <a:lnTo>
                  <a:pt x="27426868" y="15427614"/>
                </a:lnTo>
                <a:lnTo>
                  <a:pt x="0" y="15427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311454"/>
            <a:ext cx="11342431" cy="2578942"/>
            <a:chOff x="0" y="0"/>
            <a:chExt cx="2987336" cy="6792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87336" cy="679207"/>
            </a:xfrm>
            <a:custGeom>
              <a:avLst/>
              <a:gdLst/>
              <a:ahLst/>
              <a:cxnLst/>
              <a:rect r="r" b="b" t="t" l="l"/>
              <a:pathLst>
                <a:path h="679207" w="2987336">
                  <a:moveTo>
                    <a:pt x="2987336" y="45732"/>
                  </a:moveTo>
                  <a:lnTo>
                    <a:pt x="2987336" y="633475"/>
                  </a:lnTo>
                  <a:cubicBezTo>
                    <a:pt x="2987336" y="645604"/>
                    <a:pt x="2982518" y="657236"/>
                    <a:pt x="2973942" y="665812"/>
                  </a:cubicBezTo>
                  <a:cubicBezTo>
                    <a:pt x="2965365" y="674388"/>
                    <a:pt x="2953733" y="679207"/>
                    <a:pt x="2941605" y="679207"/>
                  </a:cubicBezTo>
                  <a:lnTo>
                    <a:pt x="45732" y="679207"/>
                  </a:lnTo>
                  <a:cubicBezTo>
                    <a:pt x="33603" y="679207"/>
                    <a:pt x="21971" y="674388"/>
                    <a:pt x="13395" y="665812"/>
                  </a:cubicBezTo>
                  <a:cubicBezTo>
                    <a:pt x="4818" y="657236"/>
                    <a:pt x="0" y="645604"/>
                    <a:pt x="0" y="633475"/>
                  </a:cubicBezTo>
                  <a:lnTo>
                    <a:pt x="0" y="45732"/>
                  </a:lnTo>
                  <a:cubicBezTo>
                    <a:pt x="0" y="33603"/>
                    <a:pt x="4818" y="21971"/>
                    <a:pt x="13395" y="13395"/>
                  </a:cubicBezTo>
                  <a:cubicBezTo>
                    <a:pt x="21971" y="4818"/>
                    <a:pt x="33603" y="0"/>
                    <a:pt x="45732" y="0"/>
                  </a:cubicBezTo>
                  <a:lnTo>
                    <a:pt x="2941605" y="0"/>
                  </a:lnTo>
                  <a:cubicBezTo>
                    <a:pt x="2953733" y="0"/>
                    <a:pt x="2965365" y="4818"/>
                    <a:pt x="2973942" y="13395"/>
                  </a:cubicBezTo>
                  <a:cubicBezTo>
                    <a:pt x="2982518" y="21971"/>
                    <a:pt x="2987336" y="33603"/>
                    <a:pt x="2987336" y="45732"/>
                  </a:cubicBezTo>
                  <a:close/>
                </a:path>
              </a:pathLst>
            </a:custGeom>
            <a:ln w="47625" cap="rnd">
              <a:solidFill>
                <a:srgbClr val="3A688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87336" cy="71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535477"/>
            <a:ext cx="10841346" cy="19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0941" indent="-400471" lvl="1">
              <a:lnSpc>
                <a:spcPts val="51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Student: Points economy, verified identity.</a:t>
            </a:r>
          </a:p>
          <a:p>
            <a:pPr algn="l" marL="800941" indent="-400471" lvl="1">
              <a:lnSpc>
                <a:spcPts val="51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Book: Master catalog entity.</a:t>
            </a:r>
          </a:p>
          <a:p>
            <a:pPr algn="l" marL="800941" indent="-400471" lvl="1">
              <a:lnSpc>
                <a:spcPts val="519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BookCopy: Physical copy tracking condition.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9234"/>
            <a:ext cx="1462843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Domain Entities — Student, Book &amp; BookCopy</a:t>
            </a: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9234"/>
            <a:ext cx="1462843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The Lending &amp; Borrowing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3354" y="2196296"/>
            <a:ext cx="594443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ist (LendingListRecord)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46267" y="2860457"/>
            <a:ext cx="13210864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Lend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 li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ysi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ok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3354" y="3693577"/>
            <a:ext cx="410479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Shar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 Catalog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61613" y="4279435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 the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 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physic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 BookC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ow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ners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nforce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sourc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ruth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3354" y="5421438"/>
            <a:ext cx="465058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rowse &amp; Request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1613" y="6007295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Allows 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 list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hysic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ok copies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while 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ers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wse, req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est,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ge bor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row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ing li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354" y="7402548"/>
            <a:ext cx="439364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Stat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Transitions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1613" y="7988405"/>
            <a:ext cx="1321086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Manag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 the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pl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 b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rowing lifecycle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through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ct st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s: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nding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ccep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ejec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te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d,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can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celled</a:t>
            </a:r>
            <a:r>
              <a:rPr lang="en-US" sz="3199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52029"/>
            <a:ext cx="19525292" cy="7614864"/>
          </a:xfrm>
          <a:custGeom>
            <a:avLst/>
            <a:gdLst/>
            <a:ahLst/>
            <a:cxnLst/>
            <a:rect r="r" b="b" t="t" l="l"/>
            <a:pathLst>
              <a:path h="7614864" w="19525292">
                <a:moveTo>
                  <a:pt x="0" y="0"/>
                </a:moveTo>
                <a:lnTo>
                  <a:pt x="19525292" y="0"/>
                </a:lnTo>
                <a:lnTo>
                  <a:pt x="19525292" y="7614864"/>
                </a:lnTo>
                <a:lnTo>
                  <a:pt x="0" y="761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8255" y="609234"/>
            <a:ext cx="17989745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0"/>
              </a:lnSpc>
              <a:spcBef>
                <a:spcPct val="0"/>
              </a:spcBef>
            </a:pPr>
            <a:r>
              <a:rPr lang="en-US" b="true" sz="58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Exception-less Control Flow: Railway-Oriented Programming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069993"/>
            <a:ext cx="780831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rced Acknowledgment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848" y="8747939"/>
            <a:ext cx="771987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ces the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Present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 laye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 to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explic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ly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ack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no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wle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dg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very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pot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 f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lure p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52513" y="8069993"/>
            <a:ext cx="780831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</a:t>
            </a: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Hidden Modes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29361" y="8747939"/>
            <a:ext cx="7719879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Deliver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a 100% predictable AP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 co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act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 eli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inates unpredictable bubbling and hidden failure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modes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40280"/>
            <a:ext cx="18288000" cy="5806440"/>
          </a:xfrm>
          <a:custGeom>
            <a:avLst/>
            <a:gdLst/>
            <a:ahLst/>
            <a:cxnLst/>
            <a:rect r="r" b="b" t="t" l="l"/>
            <a:pathLst>
              <a:path h="5806440" w="18288000">
                <a:moveTo>
                  <a:pt x="0" y="0"/>
                </a:moveTo>
                <a:lnTo>
                  <a:pt x="18288000" y="0"/>
                </a:lnTo>
                <a:lnTo>
                  <a:pt x="18288000" y="5806440"/>
                </a:lnTo>
                <a:lnTo>
                  <a:pt x="0" y="580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381649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Application Pipeline: MediatR Behaviors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54070" y="7236498"/>
            <a:ext cx="6641466" cy="223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Pre-Flight Integrity: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31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Halts execution using FluentValidation so the handler never runs with invalid input.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183" y="4259879"/>
            <a:ext cx="3086100" cy="1767242"/>
            <a:chOff x="0" y="0"/>
            <a:chExt cx="812800" cy="465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65446"/>
            </a:xfrm>
            <a:custGeom>
              <a:avLst/>
              <a:gdLst/>
              <a:ahLst/>
              <a:cxnLst/>
              <a:rect r="r" b="b" t="t" l="l"/>
              <a:pathLst>
                <a:path h="465446" w="812800">
                  <a:moveTo>
                    <a:pt x="60207" y="0"/>
                  </a:moveTo>
                  <a:lnTo>
                    <a:pt x="752593" y="0"/>
                  </a:lnTo>
                  <a:cubicBezTo>
                    <a:pt x="768561" y="0"/>
                    <a:pt x="783875" y="6343"/>
                    <a:pt x="795166" y="17634"/>
                  </a:cubicBezTo>
                  <a:cubicBezTo>
                    <a:pt x="806457" y="28925"/>
                    <a:pt x="812800" y="44239"/>
                    <a:pt x="812800" y="60207"/>
                  </a:cubicBezTo>
                  <a:lnTo>
                    <a:pt x="812800" y="405239"/>
                  </a:lnTo>
                  <a:cubicBezTo>
                    <a:pt x="812800" y="421207"/>
                    <a:pt x="806457" y="436521"/>
                    <a:pt x="795166" y="447812"/>
                  </a:cubicBezTo>
                  <a:cubicBezTo>
                    <a:pt x="783875" y="459103"/>
                    <a:pt x="768561" y="465446"/>
                    <a:pt x="752593" y="465446"/>
                  </a:cubicBezTo>
                  <a:lnTo>
                    <a:pt x="60207" y="465446"/>
                  </a:lnTo>
                  <a:cubicBezTo>
                    <a:pt x="44239" y="465446"/>
                    <a:pt x="28925" y="459103"/>
                    <a:pt x="17634" y="447812"/>
                  </a:cubicBezTo>
                  <a:cubicBezTo>
                    <a:pt x="6343" y="436521"/>
                    <a:pt x="0" y="421207"/>
                    <a:pt x="0" y="405239"/>
                  </a:cubicBezTo>
                  <a:lnTo>
                    <a:pt x="0" y="60207"/>
                  </a:lnTo>
                  <a:cubicBezTo>
                    <a:pt x="0" y="44239"/>
                    <a:pt x="6343" y="28925"/>
                    <a:pt x="17634" y="17634"/>
                  </a:cubicBezTo>
                  <a:cubicBezTo>
                    <a:pt x="28925" y="6343"/>
                    <a:pt x="44239" y="0"/>
                    <a:pt x="60207" y="0"/>
                  </a:cubicBezTo>
                  <a:close/>
                </a:path>
              </a:pathLst>
            </a:custGeom>
            <a:solidFill>
              <a:srgbClr val="D6E4E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532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Entity Update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442283" y="4548372"/>
            <a:ext cx="3684471" cy="1190255"/>
            <a:chOff x="0" y="0"/>
            <a:chExt cx="1390429" cy="4491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0429" cy="449173"/>
            </a:xfrm>
            <a:custGeom>
              <a:avLst/>
              <a:gdLst/>
              <a:ahLst/>
              <a:cxnLst/>
              <a:rect r="r" b="b" t="t" l="l"/>
              <a:pathLst>
                <a:path h="449173" w="1390429">
                  <a:moveTo>
                    <a:pt x="239386" y="165872"/>
                  </a:moveTo>
                  <a:lnTo>
                    <a:pt x="1390429" y="165872"/>
                  </a:lnTo>
                  <a:lnTo>
                    <a:pt x="1390429" y="283278"/>
                  </a:lnTo>
                  <a:lnTo>
                    <a:pt x="239373" y="283278"/>
                  </a:lnTo>
                  <a:lnTo>
                    <a:pt x="302255" y="449173"/>
                  </a:lnTo>
                  <a:lnTo>
                    <a:pt x="0" y="224587"/>
                  </a:lnTo>
                  <a:lnTo>
                    <a:pt x="302255" y="0"/>
                  </a:lnTo>
                  <a:lnTo>
                    <a:pt x="239386" y="165872"/>
                  </a:lnTo>
                  <a:close/>
                </a:path>
              </a:pathLst>
            </a:custGeom>
            <a:solidFill>
              <a:srgbClr val="4A90A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0650" y="127000"/>
              <a:ext cx="1269779" cy="15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317983" y="3526386"/>
            <a:ext cx="2770939" cy="2778348"/>
          </a:xfrm>
          <a:custGeom>
            <a:avLst/>
            <a:gdLst/>
            <a:ahLst/>
            <a:cxnLst/>
            <a:rect r="r" b="b" t="t" l="l"/>
            <a:pathLst>
              <a:path h="2778348" w="2770939">
                <a:moveTo>
                  <a:pt x="0" y="0"/>
                </a:moveTo>
                <a:lnTo>
                  <a:pt x="2770939" y="0"/>
                </a:lnTo>
                <a:lnTo>
                  <a:pt x="2770939" y="2778348"/>
                </a:lnTo>
                <a:lnTo>
                  <a:pt x="0" y="2778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26754" y="3672990"/>
            <a:ext cx="2946378" cy="2941021"/>
          </a:xfrm>
          <a:custGeom>
            <a:avLst/>
            <a:gdLst/>
            <a:ahLst/>
            <a:cxnLst/>
            <a:rect r="r" b="b" t="t" l="l"/>
            <a:pathLst>
              <a:path h="2941021" w="2946378">
                <a:moveTo>
                  <a:pt x="0" y="0"/>
                </a:moveTo>
                <a:lnTo>
                  <a:pt x="2946378" y="0"/>
                </a:lnTo>
                <a:lnTo>
                  <a:pt x="2946378" y="2941020"/>
                </a:lnTo>
                <a:lnTo>
                  <a:pt x="0" y="2941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0073132" y="4536104"/>
            <a:ext cx="4244851" cy="1190255"/>
            <a:chOff x="0" y="0"/>
            <a:chExt cx="1601902" cy="4491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1902" cy="449173"/>
            </a:xfrm>
            <a:custGeom>
              <a:avLst/>
              <a:gdLst/>
              <a:ahLst/>
              <a:cxnLst/>
              <a:rect r="r" b="b" t="t" l="l"/>
              <a:pathLst>
                <a:path h="449173" w="1601902">
                  <a:moveTo>
                    <a:pt x="239386" y="165872"/>
                  </a:moveTo>
                  <a:lnTo>
                    <a:pt x="1601902" y="165872"/>
                  </a:lnTo>
                  <a:lnTo>
                    <a:pt x="1601902" y="283278"/>
                  </a:lnTo>
                  <a:lnTo>
                    <a:pt x="239373" y="283278"/>
                  </a:lnTo>
                  <a:lnTo>
                    <a:pt x="302255" y="449173"/>
                  </a:lnTo>
                  <a:lnTo>
                    <a:pt x="0" y="224587"/>
                  </a:lnTo>
                  <a:lnTo>
                    <a:pt x="302255" y="0"/>
                  </a:lnTo>
                  <a:lnTo>
                    <a:pt x="239386" y="165872"/>
                  </a:lnTo>
                  <a:close/>
                </a:path>
              </a:pathLst>
            </a:custGeom>
            <a:solidFill>
              <a:srgbClr val="4A90A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0650" y="127000"/>
              <a:ext cx="1481252" cy="157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594060" y="6556860"/>
            <a:ext cx="1685449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CreatedBy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2634" y="5681478"/>
            <a:ext cx="1788319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ModifiedBy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01702" y="4266342"/>
            <a:ext cx="2574250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LastModifiedUtc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12634" y="3453126"/>
            <a:ext cx="2140387" cy="4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CreatedAtUtc</a:t>
            </a:r>
          </a:p>
        </p:txBody>
      </p:sp>
      <p:sp>
        <p:nvSpPr>
          <p:cNvPr name="Freeform 17" id="17"/>
          <p:cNvSpPr/>
          <p:nvPr/>
        </p:nvSpPr>
        <p:spPr>
          <a:xfrm>
            <a:off x="8900819" y="3561287"/>
            <a:ext cx="1711815" cy="152824"/>
          </a:xfrm>
          <a:custGeom>
            <a:avLst/>
            <a:gdLst/>
            <a:ahLst/>
            <a:cxnLst/>
            <a:rect r="r" b="b" t="t" l="l"/>
            <a:pathLst>
              <a:path h="152824" w="1711815">
                <a:moveTo>
                  <a:pt x="0" y="111703"/>
                </a:moveTo>
                <a:quadBezTo>
                  <a:pt x="862223" y="-130655"/>
                  <a:pt x="1711815" y="152824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8" id="18"/>
          <p:cNvSpPr/>
          <p:nvPr/>
        </p:nvSpPr>
        <p:spPr>
          <a:xfrm>
            <a:off x="9834613" y="5942462"/>
            <a:ext cx="778021" cy="150605"/>
          </a:xfrm>
          <a:custGeom>
            <a:avLst/>
            <a:gdLst/>
            <a:ahLst/>
            <a:cxnLst/>
            <a:rect r="r" b="b" t="t" l="l"/>
            <a:pathLst>
              <a:path h="150605" w="778021">
                <a:moveTo>
                  <a:pt x="0" y="84659"/>
                </a:moveTo>
                <a:quadBezTo>
                  <a:pt x="411636" y="250265"/>
                  <a:pt x="778021" y="0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9" id="19"/>
          <p:cNvSpPr/>
          <p:nvPr/>
        </p:nvSpPr>
        <p:spPr>
          <a:xfrm>
            <a:off x="9834613" y="4256417"/>
            <a:ext cx="767089" cy="270910"/>
          </a:xfrm>
          <a:custGeom>
            <a:avLst/>
            <a:gdLst/>
            <a:ahLst/>
            <a:cxnLst/>
            <a:rect r="r" b="b" t="t" l="l"/>
            <a:pathLst>
              <a:path h="270910" w="767089">
                <a:moveTo>
                  <a:pt x="0" y="3462"/>
                </a:moveTo>
                <a:quadBezTo>
                  <a:pt x="442053" y="-30628"/>
                  <a:pt x="767089" y="270910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20" id="20"/>
          <p:cNvSpPr/>
          <p:nvPr/>
        </p:nvSpPr>
        <p:spPr>
          <a:xfrm>
            <a:off x="8850766" y="6614010"/>
            <a:ext cx="1743294" cy="289871"/>
          </a:xfrm>
          <a:custGeom>
            <a:avLst/>
            <a:gdLst/>
            <a:ahLst/>
            <a:cxnLst/>
            <a:rect r="r" b="b" t="t" l="l"/>
            <a:pathLst>
              <a:path h="289871" w="1743294">
                <a:moveTo>
                  <a:pt x="0" y="0"/>
                </a:moveTo>
                <a:quadBezTo>
                  <a:pt x="831205" y="447795"/>
                  <a:pt x="1743294" y="203835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356183" y="7566510"/>
            <a:ext cx="8243759" cy="1745614"/>
            <a:chOff x="0" y="0"/>
            <a:chExt cx="2171196" cy="4597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196" cy="459750"/>
            </a:xfrm>
            <a:custGeom>
              <a:avLst/>
              <a:gdLst/>
              <a:ahLst/>
              <a:cxnLst/>
              <a:rect r="r" b="b" t="t" l="l"/>
              <a:pathLst>
                <a:path h="459750" w="2171196">
                  <a:moveTo>
                    <a:pt x="40382" y="0"/>
                  </a:moveTo>
                  <a:lnTo>
                    <a:pt x="2130814" y="0"/>
                  </a:lnTo>
                  <a:cubicBezTo>
                    <a:pt x="2153116" y="0"/>
                    <a:pt x="2171196" y="18080"/>
                    <a:pt x="2171196" y="40382"/>
                  </a:cubicBezTo>
                  <a:lnTo>
                    <a:pt x="2171196" y="419368"/>
                  </a:lnTo>
                  <a:cubicBezTo>
                    <a:pt x="2171196" y="441670"/>
                    <a:pt x="2153116" y="459750"/>
                    <a:pt x="2130814" y="459750"/>
                  </a:cubicBezTo>
                  <a:lnTo>
                    <a:pt x="40382" y="459750"/>
                  </a:lnTo>
                  <a:cubicBezTo>
                    <a:pt x="18080" y="459750"/>
                    <a:pt x="0" y="441670"/>
                    <a:pt x="0" y="419368"/>
                  </a:cubicBezTo>
                  <a:lnTo>
                    <a:pt x="0" y="40382"/>
                  </a:lnTo>
                  <a:cubicBezTo>
                    <a:pt x="0" y="18080"/>
                    <a:pt x="18080" y="0"/>
                    <a:pt x="40382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71196" cy="497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7345530"/>
            <a:ext cx="8243759" cy="2178685"/>
            <a:chOff x="0" y="0"/>
            <a:chExt cx="2171196" cy="573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1196" cy="573810"/>
            </a:xfrm>
            <a:custGeom>
              <a:avLst/>
              <a:gdLst/>
              <a:ahLst/>
              <a:cxnLst/>
              <a:rect r="r" b="b" t="t" l="l"/>
              <a:pathLst>
                <a:path h="573810" w="2171196">
                  <a:moveTo>
                    <a:pt x="40382" y="0"/>
                  </a:moveTo>
                  <a:lnTo>
                    <a:pt x="2130814" y="0"/>
                  </a:lnTo>
                  <a:cubicBezTo>
                    <a:pt x="2153116" y="0"/>
                    <a:pt x="2171196" y="18080"/>
                    <a:pt x="2171196" y="40382"/>
                  </a:cubicBezTo>
                  <a:lnTo>
                    <a:pt x="2171196" y="533428"/>
                  </a:lnTo>
                  <a:cubicBezTo>
                    <a:pt x="2171196" y="544138"/>
                    <a:pt x="2166941" y="554409"/>
                    <a:pt x="2159368" y="561982"/>
                  </a:cubicBezTo>
                  <a:cubicBezTo>
                    <a:pt x="2151795" y="569555"/>
                    <a:pt x="2141524" y="573810"/>
                    <a:pt x="2130814" y="573810"/>
                  </a:cubicBezTo>
                  <a:lnTo>
                    <a:pt x="40382" y="573810"/>
                  </a:lnTo>
                  <a:cubicBezTo>
                    <a:pt x="18080" y="573810"/>
                    <a:pt x="0" y="555730"/>
                    <a:pt x="0" y="533428"/>
                  </a:cubicBezTo>
                  <a:lnTo>
                    <a:pt x="0" y="40382"/>
                  </a:lnTo>
                  <a:cubicBezTo>
                    <a:pt x="0" y="18080"/>
                    <a:pt x="18080" y="0"/>
                    <a:pt x="40382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71196" cy="611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6263" y="2017465"/>
            <a:ext cx="10436371" cy="1292786"/>
            <a:chOff x="0" y="0"/>
            <a:chExt cx="2748674" cy="3404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8674" cy="340487"/>
            </a:xfrm>
            <a:custGeom>
              <a:avLst/>
              <a:gdLst/>
              <a:ahLst/>
              <a:cxnLst/>
              <a:rect r="r" b="b" t="t" l="l"/>
              <a:pathLst>
                <a:path h="340487" w="2748674">
                  <a:moveTo>
                    <a:pt x="31898" y="0"/>
                  </a:moveTo>
                  <a:lnTo>
                    <a:pt x="2716776" y="0"/>
                  </a:lnTo>
                  <a:cubicBezTo>
                    <a:pt x="2734393" y="0"/>
                    <a:pt x="2748674" y="14281"/>
                    <a:pt x="2748674" y="31898"/>
                  </a:cubicBezTo>
                  <a:lnTo>
                    <a:pt x="2748674" y="308589"/>
                  </a:lnTo>
                  <a:cubicBezTo>
                    <a:pt x="2748674" y="317049"/>
                    <a:pt x="2745313" y="325162"/>
                    <a:pt x="2739331" y="331144"/>
                  </a:cubicBezTo>
                  <a:cubicBezTo>
                    <a:pt x="2733349" y="337126"/>
                    <a:pt x="2725236" y="340487"/>
                    <a:pt x="2716776" y="340487"/>
                  </a:cubicBezTo>
                  <a:lnTo>
                    <a:pt x="31898" y="340487"/>
                  </a:lnTo>
                  <a:cubicBezTo>
                    <a:pt x="23438" y="340487"/>
                    <a:pt x="15325" y="337126"/>
                    <a:pt x="9343" y="331144"/>
                  </a:cubicBezTo>
                  <a:cubicBezTo>
                    <a:pt x="3361" y="325162"/>
                    <a:pt x="0" y="317049"/>
                    <a:pt x="0" y="308589"/>
                  </a:cubicBezTo>
                  <a:lnTo>
                    <a:pt x="0" y="31898"/>
                  </a:lnTo>
                  <a:cubicBezTo>
                    <a:pt x="0" y="23438"/>
                    <a:pt x="3361" y="15325"/>
                    <a:pt x="9343" y="9343"/>
                  </a:cubicBezTo>
                  <a:cubicBezTo>
                    <a:pt x="15325" y="3361"/>
                    <a:pt x="23438" y="0"/>
                    <a:pt x="31898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48674" cy="378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599709"/>
            <a:ext cx="1381649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Smart Persistence: EF Core Interceptors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6183" y="2091581"/>
            <a:ext cx="10161759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Global Hook: </a:t>
            </a:r>
            <a:r>
              <a:rPr lang="en-US" sz="32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Hooks directly into SaveChangesAsync via a globally registered A</a:t>
            </a:r>
            <a:r>
              <a:rPr lang="en-US" sz="32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uditableEntityInterceptor</a:t>
            </a:r>
            <a:r>
              <a:rPr lang="en-US" b="true" sz="3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35195" y="3424551"/>
            <a:ext cx="2336514" cy="83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93"/>
              </a:lnSpc>
              <a:spcBef>
                <a:spcPct val="0"/>
              </a:spcBef>
            </a:pPr>
            <a:r>
              <a:rPr lang="en-US" b="true" sz="4923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 Base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6183" y="7642710"/>
            <a:ext cx="8243759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Automatic Injection: </a:t>
            </a:r>
            <a:r>
              <a:rPr lang="en-US" sz="32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Automatically injects timestamps and user data on every single entity state change.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7364580"/>
            <a:ext cx="8243759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</a:t>
            </a:r>
            <a:r>
              <a:rPr lang="en-US" b="true" sz="31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ansactional Consistency: </a:t>
            </a:r>
            <a:r>
              <a:rPr lang="en-US" sz="31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Dispatches Domain Events via MediatR strictly before the database commit to guarantee transactional consistency.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46814"/>
            <a:ext cx="3491903" cy="1848402"/>
            <a:chOff x="0" y="0"/>
            <a:chExt cx="919678" cy="4868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9678" cy="486822"/>
            </a:xfrm>
            <a:custGeom>
              <a:avLst/>
              <a:gdLst/>
              <a:ahLst/>
              <a:cxnLst/>
              <a:rect r="r" b="b" t="t" l="l"/>
              <a:pathLst>
                <a:path h="486822" w="919678">
                  <a:moveTo>
                    <a:pt x="95336" y="0"/>
                  </a:moveTo>
                  <a:lnTo>
                    <a:pt x="824343" y="0"/>
                  </a:lnTo>
                  <a:cubicBezTo>
                    <a:pt x="849627" y="0"/>
                    <a:pt x="873876" y="10044"/>
                    <a:pt x="891755" y="27923"/>
                  </a:cubicBezTo>
                  <a:cubicBezTo>
                    <a:pt x="909634" y="45802"/>
                    <a:pt x="919678" y="70051"/>
                    <a:pt x="919678" y="95336"/>
                  </a:cubicBezTo>
                  <a:lnTo>
                    <a:pt x="919678" y="391486"/>
                  </a:lnTo>
                  <a:cubicBezTo>
                    <a:pt x="919678" y="444139"/>
                    <a:pt x="876995" y="486822"/>
                    <a:pt x="824343" y="486822"/>
                  </a:cubicBezTo>
                  <a:lnTo>
                    <a:pt x="95336" y="486822"/>
                  </a:lnTo>
                  <a:cubicBezTo>
                    <a:pt x="70051" y="486822"/>
                    <a:pt x="45802" y="476778"/>
                    <a:pt x="27923" y="458899"/>
                  </a:cubicBezTo>
                  <a:cubicBezTo>
                    <a:pt x="10044" y="441020"/>
                    <a:pt x="0" y="416771"/>
                    <a:pt x="0" y="391486"/>
                  </a:cubicBezTo>
                  <a:lnTo>
                    <a:pt x="0" y="95336"/>
                  </a:lnTo>
                  <a:cubicBezTo>
                    <a:pt x="0" y="42683"/>
                    <a:pt x="42683" y="0"/>
                    <a:pt x="95336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9678" cy="524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20603" y="3571015"/>
            <a:ext cx="2736726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7257329" y="1571437"/>
            <a:ext cx="286062" cy="3999156"/>
            <a:chOff x="0" y="0"/>
            <a:chExt cx="75342" cy="10532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342" cy="1053276"/>
            </a:xfrm>
            <a:custGeom>
              <a:avLst/>
              <a:gdLst/>
              <a:ahLst/>
              <a:cxnLst/>
              <a:rect r="r" b="b" t="t" l="l"/>
              <a:pathLst>
                <a:path h="1053276" w="75342">
                  <a:moveTo>
                    <a:pt x="0" y="0"/>
                  </a:moveTo>
                  <a:lnTo>
                    <a:pt x="75342" y="0"/>
                  </a:lnTo>
                  <a:lnTo>
                    <a:pt x="75342" y="1053276"/>
                  </a:lnTo>
                  <a:lnTo>
                    <a:pt x="0" y="1053276"/>
                  </a:lnTo>
                  <a:close/>
                </a:path>
              </a:pathLst>
            </a:custGeom>
            <a:solidFill>
              <a:srgbClr val="4A90A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5342" cy="109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76861" y="2848247"/>
            <a:ext cx="3499010" cy="1445536"/>
            <a:chOff x="0" y="0"/>
            <a:chExt cx="921550" cy="3807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550" cy="380717"/>
            </a:xfrm>
            <a:custGeom>
              <a:avLst/>
              <a:gdLst/>
              <a:ahLst/>
              <a:cxnLst/>
              <a:rect r="r" b="b" t="t" l="l"/>
              <a:pathLst>
                <a:path h="380717" w="921550">
                  <a:moveTo>
                    <a:pt x="95142" y="0"/>
                  </a:moveTo>
                  <a:lnTo>
                    <a:pt x="826408" y="0"/>
                  </a:lnTo>
                  <a:cubicBezTo>
                    <a:pt x="878954" y="0"/>
                    <a:pt x="921550" y="42596"/>
                    <a:pt x="921550" y="95142"/>
                  </a:cubicBezTo>
                  <a:lnTo>
                    <a:pt x="921550" y="285575"/>
                  </a:lnTo>
                  <a:cubicBezTo>
                    <a:pt x="921550" y="338121"/>
                    <a:pt x="878954" y="380717"/>
                    <a:pt x="826408" y="380717"/>
                  </a:cubicBezTo>
                  <a:lnTo>
                    <a:pt x="95142" y="380717"/>
                  </a:lnTo>
                  <a:cubicBezTo>
                    <a:pt x="69909" y="380717"/>
                    <a:pt x="45709" y="370693"/>
                    <a:pt x="27866" y="352851"/>
                  </a:cubicBezTo>
                  <a:cubicBezTo>
                    <a:pt x="10024" y="335008"/>
                    <a:pt x="0" y="310809"/>
                    <a:pt x="0" y="285575"/>
                  </a:cubicBezTo>
                  <a:lnTo>
                    <a:pt x="0" y="95142"/>
                  </a:lnTo>
                  <a:cubicBezTo>
                    <a:pt x="0" y="42596"/>
                    <a:pt x="42596" y="0"/>
                    <a:pt x="95142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1550" cy="418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11994" y="8891970"/>
            <a:ext cx="7547306" cy="1280279"/>
            <a:chOff x="0" y="0"/>
            <a:chExt cx="1987768" cy="337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11994" y="7368666"/>
            <a:ext cx="7547306" cy="1280279"/>
            <a:chOff x="0" y="0"/>
            <a:chExt cx="1987768" cy="337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11994" y="5886838"/>
            <a:ext cx="7547306" cy="1238802"/>
            <a:chOff x="0" y="0"/>
            <a:chExt cx="1987768" cy="3262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7768" cy="326269"/>
            </a:xfrm>
            <a:custGeom>
              <a:avLst/>
              <a:gdLst/>
              <a:ahLst/>
              <a:cxnLst/>
              <a:rect r="r" b="b" t="t" l="l"/>
              <a:pathLst>
                <a:path h="326269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82160"/>
                  </a:lnTo>
                  <a:cubicBezTo>
                    <a:pt x="1987768" y="293858"/>
                    <a:pt x="1983121" y="305078"/>
                    <a:pt x="1974849" y="313350"/>
                  </a:cubicBezTo>
                  <a:cubicBezTo>
                    <a:pt x="1966577" y="321622"/>
                    <a:pt x="1955357" y="326269"/>
                    <a:pt x="1943659" y="326269"/>
                  </a:cubicBezTo>
                  <a:lnTo>
                    <a:pt x="44109" y="326269"/>
                  </a:lnTo>
                  <a:cubicBezTo>
                    <a:pt x="32410" y="326269"/>
                    <a:pt x="21191" y="321622"/>
                    <a:pt x="12919" y="313350"/>
                  </a:cubicBezTo>
                  <a:cubicBezTo>
                    <a:pt x="4647" y="305078"/>
                    <a:pt x="0" y="293858"/>
                    <a:pt x="0" y="282160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87768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7543391" y="3571015"/>
            <a:ext cx="173347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4795171" y="2181841"/>
            <a:ext cx="2770939" cy="2778348"/>
          </a:xfrm>
          <a:custGeom>
            <a:avLst/>
            <a:gdLst/>
            <a:ahLst/>
            <a:cxnLst/>
            <a:rect r="r" b="b" t="t" l="l"/>
            <a:pathLst>
              <a:path h="2778348" w="2770939">
                <a:moveTo>
                  <a:pt x="0" y="0"/>
                </a:moveTo>
                <a:lnTo>
                  <a:pt x="2770939" y="0"/>
                </a:lnTo>
                <a:lnTo>
                  <a:pt x="2770939" y="2778348"/>
                </a:lnTo>
                <a:lnTo>
                  <a:pt x="0" y="2778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V="true">
            <a:off x="12775871" y="3571015"/>
            <a:ext cx="2091170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8483941" y="4912564"/>
            <a:ext cx="38766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F4662"/>
                </a:solidFill>
                <a:latin typeface="Canva Sans"/>
                <a:ea typeface="Canva Sans"/>
                <a:cs typeface="Canva Sans"/>
                <a:sym typeface="Canva Sans"/>
              </a:rPr>
              <a:t>services/ Layer Boundary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543391" y="5143500"/>
            <a:ext cx="940549" cy="40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699615" y="428942"/>
            <a:ext cx="1072753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Frontend Architecture &amp; Tech Stack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1473" y="3002055"/>
            <a:ext cx="2286357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Browser </a:t>
            </a:r>
          </a:p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(React SPA)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1994" y="3165388"/>
            <a:ext cx="2621637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Api Server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14406" y="8871232"/>
            <a:ext cx="8294177" cy="1280279"/>
            <a:chOff x="0" y="0"/>
            <a:chExt cx="2184474" cy="33719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4406" y="7347928"/>
            <a:ext cx="8294177" cy="1280279"/>
            <a:chOff x="0" y="0"/>
            <a:chExt cx="2184474" cy="3371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4406" y="5866100"/>
            <a:ext cx="8294177" cy="1238802"/>
            <a:chOff x="0" y="0"/>
            <a:chExt cx="2184474" cy="3262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84474" cy="326269"/>
            </a:xfrm>
            <a:custGeom>
              <a:avLst/>
              <a:gdLst/>
              <a:ahLst/>
              <a:cxnLst/>
              <a:rect r="r" b="b" t="t" l="l"/>
              <a:pathLst>
                <a:path h="326269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86132"/>
                  </a:lnTo>
                  <a:cubicBezTo>
                    <a:pt x="2184474" y="296777"/>
                    <a:pt x="2180246" y="306986"/>
                    <a:pt x="2172719" y="314513"/>
                  </a:cubicBezTo>
                  <a:cubicBezTo>
                    <a:pt x="2165191" y="322040"/>
                    <a:pt x="2154982" y="326269"/>
                    <a:pt x="2144338" y="326269"/>
                  </a:cubicBezTo>
                  <a:lnTo>
                    <a:pt x="40137" y="326269"/>
                  </a:lnTo>
                  <a:cubicBezTo>
                    <a:pt x="29492" y="326269"/>
                    <a:pt x="19283" y="322040"/>
                    <a:pt x="11756" y="314513"/>
                  </a:cubicBezTo>
                  <a:cubicBezTo>
                    <a:pt x="4229" y="306986"/>
                    <a:pt x="0" y="296777"/>
                    <a:pt x="0" y="286132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84474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66248" y="6009983"/>
            <a:ext cx="7942335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React v19 &amp; Tailwind CSS v3.4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deliver a highly responsive, utility-driven Single Page Application.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0165" y="7544740"/>
            <a:ext cx="8088417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React Router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v7 handles all client-side navigation and protected route enforcement.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0165" y="8988426"/>
            <a:ext cx="7790541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Framer Motion &amp; Lucide React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 micro-interactions and consistent iconography without bloat.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91670" y="5963489"/>
            <a:ext cx="7219502" cy="115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Feature-based architecture </a:t>
            </a:r>
            <a:r>
              <a:rPr lang="en-US" sz="22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organizes the src/ directory by domains like pages/auth/ and pages/lending/.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11994" y="7350370"/>
            <a:ext cx="7563624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Service layer isolation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ensures the UI never directly calls fetch, routing all API traffic through services/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71788" y="9078085"/>
            <a:ext cx="70440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Testing Library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enforces reliability across critical UI components and custom hooks.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980111" cy="10287000"/>
            <a:chOff x="0" y="0"/>
            <a:chExt cx="289188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188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91881">
                  <a:moveTo>
                    <a:pt x="0" y="0"/>
                  </a:moveTo>
                  <a:lnTo>
                    <a:pt x="2891881" y="0"/>
                  </a:lnTo>
                  <a:lnTo>
                    <a:pt x="289188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89188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34735" y="1390542"/>
            <a:ext cx="2049125" cy="304807"/>
          </a:xfrm>
          <a:custGeom>
            <a:avLst/>
            <a:gdLst/>
            <a:ahLst/>
            <a:cxnLst/>
            <a:rect r="r" b="b" t="t" l="l"/>
            <a:pathLst>
              <a:path h="304807" w="2049125">
                <a:moveTo>
                  <a:pt x="0" y="0"/>
                </a:moveTo>
                <a:lnTo>
                  <a:pt x="2049125" y="0"/>
                </a:lnTo>
                <a:lnTo>
                  <a:pt x="2049125" y="304807"/>
                </a:lnTo>
                <a:lnTo>
                  <a:pt x="0" y="304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321" y="9693837"/>
            <a:ext cx="2070613" cy="308004"/>
          </a:xfrm>
          <a:custGeom>
            <a:avLst/>
            <a:gdLst/>
            <a:ahLst/>
            <a:cxnLst/>
            <a:rect r="r" b="b" t="t" l="l"/>
            <a:pathLst>
              <a:path h="308004" w="2070613">
                <a:moveTo>
                  <a:pt x="0" y="0"/>
                </a:moveTo>
                <a:lnTo>
                  <a:pt x="2070613" y="0"/>
                </a:lnTo>
                <a:lnTo>
                  <a:pt x="2070613" y="308004"/>
                </a:lnTo>
                <a:lnTo>
                  <a:pt x="0" y="308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27615" y="1028700"/>
            <a:ext cx="4488192" cy="1114877"/>
            <a:chOff x="0" y="0"/>
            <a:chExt cx="1532577" cy="3807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2577" cy="380746"/>
            </a:xfrm>
            <a:custGeom>
              <a:avLst/>
              <a:gdLst/>
              <a:ahLst/>
              <a:cxnLst/>
              <a:rect r="r" b="b" t="t" l="l"/>
              <a:pathLst>
                <a:path h="380746" w="1532577">
                  <a:moveTo>
                    <a:pt x="1532577" y="112122"/>
                  </a:moveTo>
                  <a:lnTo>
                    <a:pt x="1532577" y="268624"/>
                  </a:lnTo>
                  <a:cubicBezTo>
                    <a:pt x="1532577" y="330547"/>
                    <a:pt x="1482379" y="380746"/>
                    <a:pt x="1420455" y="380746"/>
                  </a:cubicBezTo>
                  <a:lnTo>
                    <a:pt x="112122" y="380746"/>
                  </a:lnTo>
                  <a:cubicBezTo>
                    <a:pt x="50199" y="380746"/>
                    <a:pt x="0" y="330547"/>
                    <a:pt x="0" y="26862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3257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20473" y="1183642"/>
            <a:ext cx="2902475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Register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27615" y="2921609"/>
            <a:ext cx="4488192" cy="1114877"/>
            <a:chOff x="0" y="0"/>
            <a:chExt cx="1532577" cy="3807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2577" cy="380746"/>
            </a:xfrm>
            <a:custGeom>
              <a:avLst/>
              <a:gdLst/>
              <a:ahLst/>
              <a:cxnLst/>
              <a:rect r="r" b="b" t="t" l="l"/>
              <a:pathLst>
                <a:path h="380746" w="1532577">
                  <a:moveTo>
                    <a:pt x="1532577" y="112122"/>
                  </a:moveTo>
                  <a:lnTo>
                    <a:pt x="1532577" y="268624"/>
                  </a:lnTo>
                  <a:cubicBezTo>
                    <a:pt x="1532577" y="330547"/>
                    <a:pt x="1482379" y="380746"/>
                    <a:pt x="1420455" y="380746"/>
                  </a:cubicBezTo>
                  <a:lnTo>
                    <a:pt x="112122" y="380746"/>
                  </a:lnTo>
                  <a:cubicBezTo>
                    <a:pt x="50199" y="380746"/>
                    <a:pt x="0" y="330547"/>
                    <a:pt x="0" y="26862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3257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581703" y="3076551"/>
            <a:ext cx="4180015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Verify Email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27615" y="4817537"/>
            <a:ext cx="4488192" cy="1114877"/>
            <a:chOff x="0" y="0"/>
            <a:chExt cx="1532577" cy="380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2577" cy="380746"/>
            </a:xfrm>
            <a:custGeom>
              <a:avLst/>
              <a:gdLst/>
              <a:ahLst/>
              <a:cxnLst/>
              <a:rect r="r" b="b" t="t" l="l"/>
              <a:pathLst>
                <a:path h="380746" w="1532577">
                  <a:moveTo>
                    <a:pt x="1532577" y="112122"/>
                  </a:moveTo>
                  <a:lnTo>
                    <a:pt x="1532577" y="268624"/>
                  </a:lnTo>
                  <a:cubicBezTo>
                    <a:pt x="1532577" y="330547"/>
                    <a:pt x="1482379" y="380746"/>
                    <a:pt x="1420455" y="380746"/>
                  </a:cubicBezTo>
                  <a:lnTo>
                    <a:pt x="112122" y="380746"/>
                  </a:lnTo>
                  <a:cubicBezTo>
                    <a:pt x="50199" y="380746"/>
                    <a:pt x="0" y="330547"/>
                    <a:pt x="0" y="26862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E08A48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3257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20473" y="4972479"/>
            <a:ext cx="2902475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Pending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27615" y="6713464"/>
            <a:ext cx="4488192" cy="1114877"/>
            <a:chOff x="0" y="0"/>
            <a:chExt cx="1532577" cy="380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2577" cy="380746"/>
            </a:xfrm>
            <a:custGeom>
              <a:avLst/>
              <a:gdLst/>
              <a:ahLst/>
              <a:cxnLst/>
              <a:rect r="r" b="b" t="t" l="l"/>
              <a:pathLst>
                <a:path h="380746" w="1532577">
                  <a:moveTo>
                    <a:pt x="1532577" y="112122"/>
                  </a:moveTo>
                  <a:lnTo>
                    <a:pt x="1532577" y="268624"/>
                  </a:lnTo>
                  <a:cubicBezTo>
                    <a:pt x="1532577" y="330547"/>
                    <a:pt x="1482379" y="380746"/>
                    <a:pt x="1420455" y="380746"/>
                  </a:cubicBezTo>
                  <a:lnTo>
                    <a:pt x="112122" y="380746"/>
                  </a:lnTo>
                  <a:cubicBezTo>
                    <a:pt x="50199" y="380746"/>
                    <a:pt x="0" y="330547"/>
                    <a:pt x="0" y="26862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386FA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3257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04659" y="6865864"/>
            <a:ext cx="4334104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295D8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Admin Approval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27615" y="8732961"/>
            <a:ext cx="4488192" cy="1114877"/>
            <a:chOff x="0" y="0"/>
            <a:chExt cx="1532577" cy="3807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32577" cy="380746"/>
            </a:xfrm>
            <a:custGeom>
              <a:avLst/>
              <a:gdLst/>
              <a:ahLst/>
              <a:cxnLst/>
              <a:rect r="r" b="b" t="t" l="l"/>
              <a:pathLst>
                <a:path h="380746" w="1532577">
                  <a:moveTo>
                    <a:pt x="1532577" y="112122"/>
                  </a:moveTo>
                  <a:lnTo>
                    <a:pt x="1532577" y="268624"/>
                  </a:lnTo>
                  <a:cubicBezTo>
                    <a:pt x="1532577" y="330547"/>
                    <a:pt x="1482379" y="380746"/>
                    <a:pt x="1420455" y="380746"/>
                  </a:cubicBezTo>
                  <a:lnTo>
                    <a:pt x="112122" y="380746"/>
                  </a:lnTo>
                  <a:cubicBezTo>
                    <a:pt x="50199" y="380746"/>
                    <a:pt x="0" y="330547"/>
                    <a:pt x="0" y="26862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53B087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3257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220473" y="8887903"/>
            <a:ext cx="2902475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3A8C6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Activated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3671711" y="2143577"/>
            <a:ext cx="0" cy="778032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3643136" y="4033283"/>
            <a:ext cx="0" cy="857618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13671711" y="5929210"/>
            <a:ext cx="0" cy="857618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>
            <a:off x="13671711" y="7875343"/>
            <a:ext cx="0" cy="857618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1" id="31"/>
          <p:cNvSpPr/>
          <p:nvPr/>
        </p:nvSpPr>
        <p:spPr>
          <a:xfrm>
            <a:off x="15915511" y="1586139"/>
            <a:ext cx="1614033" cy="7704262"/>
          </a:xfrm>
          <a:custGeom>
            <a:avLst/>
            <a:gdLst/>
            <a:ahLst/>
            <a:cxnLst/>
            <a:rect r="r" b="b" t="t" l="l"/>
            <a:pathLst>
              <a:path h="7704262" w="1614033">
                <a:moveTo>
                  <a:pt x="0" y="7704261"/>
                </a:moveTo>
                <a:lnTo>
                  <a:pt x="1385433" y="7704261"/>
                </a:lnTo>
                <a:cubicBezTo>
                  <a:pt x="1511686" y="7704261"/>
                  <a:pt x="1614033" y="7601913"/>
                  <a:pt x="1614033" y="7475661"/>
                </a:cubicBezTo>
                <a:lnTo>
                  <a:pt x="1614033" y="228600"/>
                </a:lnTo>
                <a:cubicBezTo>
                  <a:pt x="1614033" y="167971"/>
                  <a:pt x="1589949" y="109826"/>
                  <a:pt x="1547077" y="66955"/>
                </a:cubicBezTo>
                <a:cubicBezTo>
                  <a:pt x="1504207" y="24084"/>
                  <a:pt x="1446062" y="0"/>
                  <a:pt x="1385433" y="0"/>
                </a:cubicBezTo>
                <a:lnTo>
                  <a:pt x="0" y="0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2" id="32"/>
          <p:cNvSpPr txBox="true"/>
          <p:nvPr/>
        </p:nvSpPr>
        <p:spPr>
          <a:xfrm rot="0">
            <a:off x="13820993" y="2271608"/>
            <a:ext cx="356008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Instit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tional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em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il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only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20993" y="6061954"/>
            <a:ext cx="301752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Manual gate check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7866" y="174625"/>
            <a:ext cx="1026437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Au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ent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ion Flow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&amp; 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ssion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Man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gement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175421" y="1767348"/>
            <a:ext cx="4786710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Univ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ersity email gating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3947" y="2247753"/>
            <a:ext cx="11047756" cy="44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6"/>
              </a:lnSpc>
              <a:spcBef>
                <a:spcPct val="0"/>
              </a:spcBef>
            </a:pP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rictly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l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ve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ifie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do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dd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-175421" y="3039222"/>
            <a:ext cx="5141370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JWT dual-tok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 strategy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3947" y="3559835"/>
            <a:ext cx="11047756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isol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ates the shor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t-liv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 access to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ken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from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sec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-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live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refr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token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-175421" y="4767270"/>
            <a:ext cx="3039399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Sil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ent refresh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3947" y="5247676"/>
            <a:ext cx="11047756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uns auto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tical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ly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via AuthC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ontext, 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ers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in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upted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mid-ses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sion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-175421" y="6410598"/>
            <a:ext cx="3821403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nvironment keys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3947" y="6891004"/>
            <a:ext cx="10249913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urely is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olate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oken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ident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if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rs awa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y from 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 comp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il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ed app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tio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bu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ndle.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175421" y="7896301"/>
            <a:ext cx="4307293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nual gatekeeping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3947" y="8376707"/>
            <a:ext cx="10249913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equ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Adm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 appr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oval to fin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ally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rans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iti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ount to acti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ated.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11994" y="8891970"/>
            <a:ext cx="7547306" cy="1280279"/>
            <a:chOff x="0" y="0"/>
            <a:chExt cx="1987768" cy="337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11994" y="7368666"/>
            <a:ext cx="7547306" cy="1280279"/>
            <a:chOff x="0" y="0"/>
            <a:chExt cx="1987768" cy="337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1994" y="5886838"/>
            <a:ext cx="7547306" cy="1238802"/>
            <a:chOff x="0" y="0"/>
            <a:chExt cx="1987768" cy="326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7768" cy="326269"/>
            </a:xfrm>
            <a:custGeom>
              <a:avLst/>
              <a:gdLst/>
              <a:ahLst/>
              <a:cxnLst/>
              <a:rect r="r" b="b" t="t" l="l"/>
              <a:pathLst>
                <a:path h="326269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82160"/>
                  </a:lnTo>
                  <a:cubicBezTo>
                    <a:pt x="1987768" y="293858"/>
                    <a:pt x="1983121" y="305078"/>
                    <a:pt x="1974849" y="313350"/>
                  </a:cubicBezTo>
                  <a:cubicBezTo>
                    <a:pt x="1966577" y="321622"/>
                    <a:pt x="1955357" y="326269"/>
                    <a:pt x="1943659" y="326269"/>
                  </a:cubicBezTo>
                  <a:lnTo>
                    <a:pt x="44109" y="326269"/>
                  </a:lnTo>
                  <a:cubicBezTo>
                    <a:pt x="32410" y="326269"/>
                    <a:pt x="21191" y="321622"/>
                    <a:pt x="12919" y="313350"/>
                  </a:cubicBezTo>
                  <a:cubicBezTo>
                    <a:pt x="4647" y="305078"/>
                    <a:pt x="0" y="293858"/>
                    <a:pt x="0" y="282160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7768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9615" y="428942"/>
            <a:ext cx="901237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uti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n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 &amp; Sta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 Architecture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406" y="8871232"/>
            <a:ext cx="8294177" cy="1280279"/>
            <a:chOff x="0" y="0"/>
            <a:chExt cx="2184474" cy="337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4406" y="7347928"/>
            <a:ext cx="8294177" cy="1280279"/>
            <a:chOff x="0" y="0"/>
            <a:chExt cx="2184474" cy="337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4406" y="5866100"/>
            <a:ext cx="8294177" cy="1238802"/>
            <a:chOff x="0" y="0"/>
            <a:chExt cx="2184474" cy="3262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4474" cy="326269"/>
            </a:xfrm>
            <a:custGeom>
              <a:avLst/>
              <a:gdLst/>
              <a:ahLst/>
              <a:cxnLst/>
              <a:rect r="r" b="b" t="t" l="l"/>
              <a:pathLst>
                <a:path h="326269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86132"/>
                  </a:lnTo>
                  <a:cubicBezTo>
                    <a:pt x="2184474" y="296777"/>
                    <a:pt x="2180246" y="306986"/>
                    <a:pt x="2172719" y="314513"/>
                  </a:cubicBezTo>
                  <a:cubicBezTo>
                    <a:pt x="2165191" y="322040"/>
                    <a:pt x="2154982" y="326269"/>
                    <a:pt x="2144338" y="326269"/>
                  </a:cubicBezTo>
                  <a:lnTo>
                    <a:pt x="40137" y="326269"/>
                  </a:lnTo>
                  <a:cubicBezTo>
                    <a:pt x="29492" y="326269"/>
                    <a:pt x="19283" y="322040"/>
                    <a:pt x="11756" y="314513"/>
                  </a:cubicBezTo>
                  <a:cubicBezTo>
                    <a:pt x="4229" y="306986"/>
                    <a:pt x="0" y="296777"/>
                    <a:pt x="0" y="286132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84474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39294" y="6091898"/>
            <a:ext cx="7942335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t-si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routing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vi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 React Rout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v7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l-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page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loads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wh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ile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man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ag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ing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pl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ex nav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ation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 state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0165" y="7544740"/>
            <a:ext cx="8088417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Guard ch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ec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kp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ensure no protected view renders without first passing a strict authentication check.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0165" y="8988426"/>
            <a:ext cx="7790541" cy="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gle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so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ce 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of 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ruth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is securely maintained by AuthContext for all session data across the application.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84055" y="6084816"/>
            <a:ext cx="7219502" cy="76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API bound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y 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nfo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rc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</a:t>
            </a:r>
            <a:r>
              <a:rPr lang="en-US" b="true" sz="22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 </a:t>
            </a:r>
            <a:r>
              <a:rPr lang="en-US" sz="22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routes everything through services/, creating a single point of configuration.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11994" y="7534042"/>
            <a:ext cx="7563624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Custom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oo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ks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extract complex business logic out of UI components into reusable, isolated functions.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71788" y="9078085"/>
            <a:ext cx="7044036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ral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zed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conf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gu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tion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makes adapting to backend URL changes a single-line adjustment.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99615" y="2911938"/>
            <a:ext cx="4488192" cy="1556382"/>
            <a:chOff x="0" y="0"/>
            <a:chExt cx="1532577" cy="5315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32577" cy="531526"/>
            </a:xfrm>
            <a:custGeom>
              <a:avLst/>
              <a:gdLst/>
              <a:ahLst/>
              <a:cxnLst/>
              <a:rect r="r" b="b" t="t" l="l"/>
              <a:pathLst>
                <a:path h="531526" w="1532577">
                  <a:moveTo>
                    <a:pt x="1532577" y="112122"/>
                  </a:moveTo>
                  <a:lnTo>
                    <a:pt x="1532577" y="419404"/>
                  </a:lnTo>
                  <a:cubicBezTo>
                    <a:pt x="1532577" y="449140"/>
                    <a:pt x="1520765" y="477659"/>
                    <a:pt x="1499738" y="498686"/>
                  </a:cubicBezTo>
                  <a:cubicBezTo>
                    <a:pt x="1478711" y="519713"/>
                    <a:pt x="1450192" y="531526"/>
                    <a:pt x="1420455" y="531526"/>
                  </a:cubicBezTo>
                  <a:lnTo>
                    <a:pt x="112122" y="531526"/>
                  </a:lnTo>
                  <a:cubicBezTo>
                    <a:pt x="50199" y="531526"/>
                    <a:pt x="0" y="481327"/>
                    <a:pt x="0" y="41940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532577" cy="569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39294" y="2989221"/>
            <a:ext cx="4448513" cy="13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AuthContext (Session State)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979818" y="1514158"/>
            <a:ext cx="1011658" cy="1166482"/>
          </a:xfrm>
          <a:custGeom>
            <a:avLst/>
            <a:gdLst/>
            <a:ahLst/>
            <a:cxnLst/>
            <a:rect r="r" b="b" t="t" l="l"/>
            <a:pathLst>
              <a:path h="1166482" w="1011658">
                <a:moveTo>
                  <a:pt x="0" y="0"/>
                </a:moveTo>
                <a:lnTo>
                  <a:pt x="1011658" y="0"/>
                </a:lnTo>
                <a:lnTo>
                  <a:pt x="1011658" y="1166482"/>
                </a:lnTo>
                <a:lnTo>
                  <a:pt x="0" y="116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>
            <a:off x="5187807" y="2097399"/>
            <a:ext cx="7792011" cy="1592730"/>
          </a:xfrm>
          <a:custGeom>
            <a:avLst/>
            <a:gdLst/>
            <a:ahLst/>
            <a:cxnLst/>
            <a:rect r="r" b="b" t="t" l="l"/>
            <a:pathLst>
              <a:path h="1592730" w="7792011">
                <a:moveTo>
                  <a:pt x="0" y="1592730"/>
                </a:moveTo>
                <a:lnTo>
                  <a:pt x="1348348" y="1592730"/>
                </a:lnTo>
                <a:cubicBezTo>
                  <a:pt x="1408977" y="1592730"/>
                  <a:pt x="1467122" y="1568645"/>
                  <a:pt x="1509993" y="1525774"/>
                </a:cubicBezTo>
                <a:cubicBezTo>
                  <a:pt x="1552864" y="1482903"/>
                  <a:pt x="1576948" y="1424758"/>
                  <a:pt x="1576948" y="1364130"/>
                </a:cubicBezTo>
                <a:lnTo>
                  <a:pt x="1576948" y="228600"/>
                </a:lnTo>
                <a:cubicBezTo>
                  <a:pt x="1576948" y="102347"/>
                  <a:pt x="1679296" y="0"/>
                  <a:pt x="1805548" y="0"/>
                </a:cubicBezTo>
                <a:lnTo>
                  <a:pt x="7792011" y="0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12979818" y="3202804"/>
            <a:ext cx="4488192" cy="974650"/>
            <a:chOff x="0" y="0"/>
            <a:chExt cx="1532577" cy="332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32577" cy="332856"/>
            </a:xfrm>
            <a:custGeom>
              <a:avLst/>
              <a:gdLst/>
              <a:ahLst/>
              <a:cxnLst/>
              <a:rect r="r" b="b" t="t" l="l"/>
              <a:pathLst>
                <a:path h="332856" w="1532577">
                  <a:moveTo>
                    <a:pt x="1532577" y="112122"/>
                  </a:moveTo>
                  <a:lnTo>
                    <a:pt x="1532577" y="220734"/>
                  </a:lnTo>
                  <a:cubicBezTo>
                    <a:pt x="1532577" y="282658"/>
                    <a:pt x="1482379" y="332856"/>
                    <a:pt x="1420455" y="332856"/>
                  </a:cubicBezTo>
                  <a:lnTo>
                    <a:pt x="112122" y="332856"/>
                  </a:lnTo>
                  <a:cubicBezTo>
                    <a:pt x="50199" y="332856"/>
                    <a:pt x="0" y="282658"/>
                    <a:pt x="0" y="22073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532577" cy="37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979818" y="3330825"/>
            <a:ext cx="4448513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pages/lending/</a:t>
            </a:r>
          </a:p>
        </p:txBody>
      </p:sp>
      <p:sp>
        <p:nvSpPr>
          <p:cNvPr name="AutoShape 37" id="37"/>
          <p:cNvSpPr/>
          <p:nvPr/>
        </p:nvSpPr>
        <p:spPr>
          <a:xfrm>
            <a:off x="5187807" y="3690129"/>
            <a:ext cx="7792011" cy="0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 flipH="true">
            <a:off x="9711994" y="2310302"/>
            <a:ext cx="0" cy="3281044"/>
          </a:xfrm>
          <a:prstGeom prst="line">
            <a:avLst/>
          </a:prstGeom>
          <a:ln cap="flat" w="142875">
            <a:solidFill>
              <a:srgbClr val="FF2828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>
            <a:off x="5187807" y="3690129"/>
            <a:ext cx="7792011" cy="1453371"/>
          </a:xfrm>
          <a:custGeom>
            <a:avLst/>
            <a:gdLst/>
            <a:ahLst/>
            <a:cxnLst/>
            <a:rect r="r" b="b" t="t" l="l"/>
            <a:pathLst>
              <a:path h="1453371" w="7792011">
                <a:moveTo>
                  <a:pt x="0" y="0"/>
                </a:moveTo>
                <a:lnTo>
                  <a:pt x="1348348" y="0"/>
                </a:lnTo>
                <a:cubicBezTo>
                  <a:pt x="1474600" y="0"/>
                  <a:pt x="1576948" y="102347"/>
                  <a:pt x="1576948" y="228600"/>
                </a:cubicBezTo>
                <a:lnTo>
                  <a:pt x="1576948" y="1224771"/>
                </a:lnTo>
                <a:cubicBezTo>
                  <a:pt x="1576948" y="1285399"/>
                  <a:pt x="1601033" y="1343545"/>
                  <a:pt x="1643904" y="1386416"/>
                </a:cubicBezTo>
                <a:cubicBezTo>
                  <a:pt x="1686774" y="1429286"/>
                  <a:pt x="1744919" y="1453371"/>
                  <a:pt x="1805548" y="1453371"/>
                </a:cubicBezTo>
                <a:lnTo>
                  <a:pt x="7792011" y="1453371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9499091" y="3424485"/>
            <a:ext cx="425806" cy="42580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65864" y="4847489"/>
            <a:ext cx="459032" cy="459032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297562" y="2911938"/>
            <a:ext cx="828864" cy="1105152"/>
          </a:xfrm>
          <a:custGeom>
            <a:avLst/>
            <a:gdLst/>
            <a:ahLst/>
            <a:cxnLst/>
            <a:rect r="r" b="b" t="t" l="l"/>
            <a:pathLst>
              <a:path h="1105152" w="828864">
                <a:moveTo>
                  <a:pt x="0" y="0"/>
                </a:moveTo>
                <a:lnTo>
                  <a:pt x="828864" y="0"/>
                </a:lnTo>
                <a:lnTo>
                  <a:pt x="828864" y="1105152"/>
                </a:lnTo>
                <a:lnTo>
                  <a:pt x="0" y="1105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9297562" y="4328139"/>
            <a:ext cx="828864" cy="1105152"/>
          </a:xfrm>
          <a:custGeom>
            <a:avLst/>
            <a:gdLst/>
            <a:ahLst/>
            <a:cxnLst/>
            <a:rect r="r" b="b" t="t" l="l"/>
            <a:pathLst>
              <a:path h="1105152" w="828864">
                <a:moveTo>
                  <a:pt x="0" y="0"/>
                </a:moveTo>
                <a:lnTo>
                  <a:pt x="828864" y="0"/>
                </a:lnTo>
                <a:lnTo>
                  <a:pt x="828864" y="1105152"/>
                </a:lnTo>
                <a:lnTo>
                  <a:pt x="0" y="1105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8" id="48"/>
          <p:cNvSpPr/>
          <p:nvPr/>
        </p:nvSpPr>
        <p:spPr>
          <a:xfrm>
            <a:off x="3863620" y="2474494"/>
            <a:ext cx="5556480" cy="897460"/>
          </a:xfrm>
          <a:custGeom>
            <a:avLst/>
            <a:gdLst/>
            <a:ahLst/>
            <a:cxnLst/>
            <a:rect r="r" b="b" t="t" l="l"/>
            <a:pathLst>
              <a:path h="897460" w="5556480">
                <a:moveTo>
                  <a:pt x="0" y="437444"/>
                </a:moveTo>
                <a:quadBezTo>
                  <a:pt x="2885371" y="-626569"/>
                  <a:pt x="5556480" y="897460"/>
                </a:quadBezTo>
              </a:path>
            </a:pathLst>
          </a:custGeom>
          <a:ln cap="flat" w="38100">
            <a:solidFill>
              <a:srgbClr val="3A8C6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9" id="49"/>
          <p:cNvSpPr/>
          <p:nvPr/>
        </p:nvSpPr>
        <p:spPr>
          <a:xfrm>
            <a:off x="3724146" y="4538744"/>
            <a:ext cx="5515795" cy="930737"/>
          </a:xfrm>
          <a:custGeom>
            <a:avLst/>
            <a:gdLst/>
            <a:ahLst/>
            <a:cxnLst/>
            <a:rect r="r" b="b" t="t" l="l"/>
            <a:pathLst>
              <a:path h="930737" w="5515795">
                <a:moveTo>
                  <a:pt x="0" y="0"/>
                </a:moveTo>
                <a:quadBezTo>
                  <a:pt x="2436624" y="1210699"/>
                  <a:pt x="5515795" y="846525"/>
                </a:quadBezTo>
              </a:path>
            </a:pathLst>
          </a:custGeom>
          <a:ln cap="flat" w="38100">
            <a:solidFill>
              <a:srgbClr val="3A8C6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12959978" y="4589680"/>
            <a:ext cx="4488192" cy="974650"/>
            <a:chOff x="0" y="0"/>
            <a:chExt cx="1532577" cy="332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32577" cy="332856"/>
            </a:xfrm>
            <a:custGeom>
              <a:avLst/>
              <a:gdLst/>
              <a:ahLst/>
              <a:cxnLst/>
              <a:rect r="r" b="b" t="t" l="l"/>
              <a:pathLst>
                <a:path h="332856" w="1532577">
                  <a:moveTo>
                    <a:pt x="1532577" y="112122"/>
                  </a:moveTo>
                  <a:lnTo>
                    <a:pt x="1532577" y="220734"/>
                  </a:lnTo>
                  <a:cubicBezTo>
                    <a:pt x="1532577" y="282658"/>
                    <a:pt x="1482379" y="332856"/>
                    <a:pt x="1420455" y="332856"/>
                  </a:cubicBezTo>
                  <a:lnTo>
                    <a:pt x="112122" y="332856"/>
                  </a:lnTo>
                  <a:cubicBezTo>
                    <a:pt x="50199" y="332856"/>
                    <a:pt x="0" y="282658"/>
                    <a:pt x="0" y="220734"/>
                  </a:cubicBezTo>
                  <a:lnTo>
                    <a:pt x="0" y="112122"/>
                  </a:lnTo>
                  <a:cubicBezTo>
                    <a:pt x="0" y="50199"/>
                    <a:pt x="50199" y="0"/>
                    <a:pt x="112122" y="0"/>
                  </a:cubicBezTo>
                  <a:lnTo>
                    <a:pt x="1420455" y="0"/>
                  </a:lnTo>
                  <a:cubicBezTo>
                    <a:pt x="1482379" y="0"/>
                    <a:pt x="1532577" y="50199"/>
                    <a:pt x="1532577" y="112122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32577" cy="37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959978" y="4717701"/>
            <a:ext cx="4448513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pages/admin/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991476" y="1750772"/>
            <a:ext cx="4448513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pages/profile/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752" y="0"/>
            <a:ext cx="8178968" cy="10287000"/>
            <a:chOff x="0" y="0"/>
            <a:chExt cx="215413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13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4131">
                  <a:moveTo>
                    <a:pt x="0" y="0"/>
                  </a:moveTo>
                  <a:lnTo>
                    <a:pt x="2154131" y="0"/>
                  </a:lnTo>
                  <a:lnTo>
                    <a:pt x="215413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5413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321" y="9693837"/>
            <a:ext cx="2070613" cy="308004"/>
          </a:xfrm>
          <a:custGeom>
            <a:avLst/>
            <a:gdLst/>
            <a:ahLst/>
            <a:cxnLst/>
            <a:rect r="r" b="b" t="t" l="l"/>
            <a:pathLst>
              <a:path h="308004" w="2070613">
                <a:moveTo>
                  <a:pt x="0" y="0"/>
                </a:moveTo>
                <a:lnTo>
                  <a:pt x="2070613" y="0"/>
                </a:lnTo>
                <a:lnTo>
                  <a:pt x="2070613" y="308004"/>
                </a:lnTo>
                <a:lnTo>
                  <a:pt x="0" y="308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85448" y="269875"/>
            <a:ext cx="4366414" cy="1346249"/>
            <a:chOff x="0" y="0"/>
            <a:chExt cx="1602041" cy="494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2041" cy="494005"/>
            </a:xfrm>
            <a:custGeom>
              <a:avLst/>
              <a:gdLst/>
              <a:ahLst/>
              <a:cxnLst/>
              <a:rect r="r" b="b" t="t" l="l"/>
              <a:pathLst>
                <a:path h="494005" w="1602041">
                  <a:moveTo>
                    <a:pt x="1602041" y="115249"/>
                  </a:moveTo>
                  <a:lnTo>
                    <a:pt x="1602041" y="378756"/>
                  </a:lnTo>
                  <a:cubicBezTo>
                    <a:pt x="1602041" y="409322"/>
                    <a:pt x="1589899" y="438636"/>
                    <a:pt x="1568285" y="460249"/>
                  </a:cubicBezTo>
                  <a:cubicBezTo>
                    <a:pt x="1546672" y="481863"/>
                    <a:pt x="1517358" y="494005"/>
                    <a:pt x="1486792" y="494005"/>
                  </a:cubicBezTo>
                  <a:lnTo>
                    <a:pt x="115249" y="494005"/>
                  </a:lnTo>
                  <a:cubicBezTo>
                    <a:pt x="84683" y="494005"/>
                    <a:pt x="55369" y="481863"/>
                    <a:pt x="33756" y="460249"/>
                  </a:cubicBezTo>
                  <a:cubicBezTo>
                    <a:pt x="12142" y="438636"/>
                    <a:pt x="0" y="409322"/>
                    <a:pt x="0" y="378756"/>
                  </a:cubicBezTo>
                  <a:lnTo>
                    <a:pt x="0" y="115249"/>
                  </a:lnTo>
                  <a:cubicBezTo>
                    <a:pt x="0" y="84683"/>
                    <a:pt x="12142" y="55369"/>
                    <a:pt x="33756" y="33756"/>
                  </a:cubicBezTo>
                  <a:cubicBezTo>
                    <a:pt x="55369" y="12142"/>
                    <a:pt x="84683" y="0"/>
                    <a:pt x="115249" y="0"/>
                  </a:cubicBezTo>
                  <a:lnTo>
                    <a:pt x="1486792" y="0"/>
                  </a:lnTo>
                  <a:cubicBezTo>
                    <a:pt x="1517358" y="0"/>
                    <a:pt x="1546672" y="12142"/>
                    <a:pt x="1568285" y="33756"/>
                  </a:cubicBezTo>
                  <a:cubicBezTo>
                    <a:pt x="1589899" y="55369"/>
                    <a:pt x="1602041" y="84683"/>
                    <a:pt x="1602041" y="115249"/>
                  </a:cubicBezTo>
                  <a:close/>
                </a:path>
              </a:pathLst>
            </a:custGeom>
            <a:ln w="85725" cap="rnd">
              <a:solidFill>
                <a:srgbClr val="A9BECB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02041" cy="532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0764" y="276530"/>
            <a:ext cx="3295781" cy="12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358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Search Shared Catalog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003069" y="2339867"/>
            <a:ext cx="4177089" cy="1856617"/>
            <a:chOff x="0" y="0"/>
            <a:chExt cx="812800" cy="361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61270"/>
            </a:xfrm>
            <a:custGeom>
              <a:avLst/>
              <a:gdLst/>
              <a:ahLst/>
              <a:cxnLst/>
              <a:rect r="r" b="b" t="t" l="l"/>
              <a:pathLst>
                <a:path h="361270" w="812800">
                  <a:moveTo>
                    <a:pt x="406400" y="0"/>
                  </a:moveTo>
                  <a:lnTo>
                    <a:pt x="812800" y="180635"/>
                  </a:lnTo>
                  <a:lnTo>
                    <a:pt x="406400" y="361270"/>
                  </a:lnTo>
                  <a:lnTo>
                    <a:pt x="0" y="180635"/>
                  </a:lnTo>
                  <a:lnTo>
                    <a:pt x="406400" y="0"/>
                  </a:lnTo>
                  <a:close/>
                </a:path>
              </a:pathLst>
            </a:custGeom>
            <a:ln w="85725" cap="sq">
              <a:solidFill>
                <a:srgbClr val="A9BEC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23993"/>
              <a:ext cx="533400" cy="275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218180" y="2919631"/>
            <a:ext cx="3890274" cy="620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358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Book Exists?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108182" y="4499853"/>
            <a:ext cx="3684843" cy="1458682"/>
            <a:chOff x="0" y="0"/>
            <a:chExt cx="1351972" cy="5352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972" cy="535262"/>
            </a:xfrm>
            <a:custGeom>
              <a:avLst/>
              <a:gdLst/>
              <a:ahLst/>
              <a:cxnLst/>
              <a:rect r="r" b="b" t="t" l="l"/>
              <a:pathLst>
                <a:path h="535262" w="1351972">
                  <a:moveTo>
                    <a:pt x="1351972" y="136566"/>
                  </a:moveTo>
                  <a:lnTo>
                    <a:pt x="1351972" y="398696"/>
                  </a:lnTo>
                  <a:cubicBezTo>
                    <a:pt x="1351972" y="474120"/>
                    <a:pt x="1290829" y="535262"/>
                    <a:pt x="1215406" y="535262"/>
                  </a:cubicBezTo>
                  <a:lnTo>
                    <a:pt x="136566" y="535262"/>
                  </a:lnTo>
                  <a:cubicBezTo>
                    <a:pt x="100347" y="535262"/>
                    <a:pt x="65610" y="520874"/>
                    <a:pt x="39999" y="495263"/>
                  </a:cubicBezTo>
                  <a:cubicBezTo>
                    <a:pt x="14388" y="469652"/>
                    <a:pt x="0" y="434916"/>
                    <a:pt x="0" y="398696"/>
                  </a:cubicBezTo>
                  <a:lnTo>
                    <a:pt x="0" y="136566"/>
                  </a:lnTo>
                  <a:cubicBezTo>
                    <a:pt x="0" y="61143"/>
                    <a:pt x="61143" y="0"/>
                    <a:pt x="136566" y="0"/>
                  </a:cubicBezTo>
                  <a:lnTo>
                    <a:pt x="1215406" y="0"/>
                  </a:lnTo>
                  <a:cubicBezTo>
                    <a:pt x="1290829" y="0"/>
                    <a:pt x="1351972" y="61143"/>
                    <a:pt x="1351972" y="136566"/>
                  </a:cubicBezTo>
                  <a:close/>
                </a:path>
              </a:pathLst>
            </a:custGeom>
            <a:ln w="85725" cap="rnd">
              <a:solidFill>
                <a:srgbClr val="E08A48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1972" cy="573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334904" y="4629909"/>
            <a:ext cx="3212466" cy="12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3589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Sugg</a:t>
            </a:r>
            <a:r>
              <a:rPr lang="en-US" b="true" sz="3589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est New Book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655047" y="8753551"/>
            <a:ext cx="5539936" cy="1114877"/>
            <a:chOff x="0" y="0"/>
            <a:chExt cx="1891715" cy="380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91715" cy="380746"/>
            </a:xfrm>
            <a:custGeom>
              <a:avLst/>
              <a:gdLst/>
              <a:ahLst/>
              <a:cxnLst/>
              <a:rect r="r" b="b" t="t" l="l"/>
              <a:pathLst>
                <a:path h="380746" w="1891715">
                  <a:moveTo>
                    <a:pt x="1891715" y="90836"/>
                  </a:moveTo>
                  <a:lnTo>
                    <a:pt x="1891715" y="289910"/>
                  </a:lnTo>
                  <a:cubicBezTo>
                    <a:pt x="1891715" y="340077"/>
                    <a:pt x="1851046" y="380746"/>
                    <a:pt x="1800879" y="380746"/>
                  </a:cubicBezTo>
                  <a:lnTo>
                    <a:pt x="90836" y="380746"/>
                  </a:lnTo>
                  <a:cubicBezTo>
                    <a:pt x="40669" y="380746"/>
                    <a:pt x="0" y="340077"/>
                    <a:pt x="0" y="289910"/>
                  </a:cubicBezTo>
                  <a:lnTo>
                    <a:pt x="0" y="90836"/>
                  </a:lnTo>
                  <a:cubicBezTo>
                    <a:pt x="0" y="40669"/>
                    <a:pt x="40669" y="0"/>
                    <a:pt x="90836" y="0"/>
                  </a:cubicBezTo>
                  <a:lnTo>
                    <a:pt x="1800879" y="0"/>
                  </a:lnTo>
                  <a:cubicBezTo>
                    <a:pt x="1824970" y="0"/>
                    <a:pt x="1848075" y="9570"/>
                    <a:pt x="1865110" y="26605"/>
                  </a:cubicBezTo>
                  <a:cubicBezTo>
                    <a:pt x="1882145" y="43640"/>
                    <a:pt x="1891715" y="66745"/>
                    <a:pt x="1891715" y="90836"/>
                  </a:cubicBezTo>
                  <a:close/>
                </a:path>
              </a:pathLst>
            </a:custGeom>
            <a:ln w="85725" cap="rnd">
              <a:solidFill>
                <a:srgbClr val="53B087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91715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885448" y="8908493"/>
            <a:ext cx="5079134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3A8C6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Active Market Listing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3068655" y="1616124"/>
            <a:ext cx="22959" cy="723743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3" id="23"/>
          <p:cNvSpPr/>
          <p:nvPr/>
        </p:nvSpPr>
        <p:spPr>
          <a:xfrm>
            <a:off x="15180159" y="3268176"/>
            <a:ext cx="770444" cy="1231678"/>
          </a:xfrm>
          <a:custGeom>
            <a:avLst/>
            <a:gdLst/>
            <a:ahLst/>
            <a:cxnLst/>
            <a:rect r="r" b="b" t="t" l="l"/>
            <a:pathLst>
              <a:path h="1231678" w="770444">
                <a:moveTo>
                  <a:pt x="0" y="0"/>
                </a:moveTo>
                <a:lnTo>
                  <a:pt x="560894" y="0"/>
                </a:lnTo>
                <a:cubicBezTo>
                  <a:pt x="676625" y="0"/>
                  <a:pt x="770444" y="93818"/>
                  <a:pt x="770444" y="209550"/>
                </a:cubicBezTo>
                <a:lnTo>
                  <a:pt x="770444" y="1231677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357866" y="174625"/>
            <a:ext cx="7121247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 User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Flow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: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Lis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a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Book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280676" y="1350460"/>
            <a:ext cx="5326928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Catalog-fi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rst 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724" y="1830866"/>
            <a:ext cx="7558050" cy="90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6"/>
              </a:lnSpc>
              <a:spcBef>
                <a:spcPct val="0"/>
              </a:spcBef>
            </a:pP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equ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ires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tudents to 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rch the s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hared da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ab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befo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 cre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ating 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new ent</a:t>
            </a:r>
            <a:r>
              <a:rPr lang="en-US" sz="25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280676" y="2948206"/>
            <a:ext cx="5721614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Physical copy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attachment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7724" y="3468820"/>
            <a:ext cx="7558050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ecurely li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nks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 user's specific physical book to the centralized master re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rd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280676" y="4676254"/>
            <a:ext cx="5721614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New 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entry suggestions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7724" y="5156660"/>
            <a:ext cx="7558050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trigger whe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 a book is missi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ng,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ng the data to an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adm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 rev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ew queue.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280676" y="6319583"/>
            <a:ext cx="5709141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Asy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nchronous approval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7724" y="6799988"/>
            <a:ext cx="7012225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prevent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unver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ifi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or duplicate books from cluttering the shared market.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280676" y="7805285"/>
            <a:ext cx="4793404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licit listing 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7724" y="8285691"/>
            <a:ext cx="7012225" cy="9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for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ly moves a 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ve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rified physical copy into the activ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 l</a:t>
            </a:r>
            <a:r>
              <a:rPr lang="en-US" sz="267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ending market.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098716" y="6485243"/>
            <a:ext cx="3684843" cy="1458682"/>
            <a:chOff x="0" y="0"/>
            <a:chExt cx="1351972" cy="5352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1972" cy="535262"/>
            </a:xfrm>
            <a:custGeom>
              <a:avLst/>
              <a:gdLst/>
              <a:ahLst/>
              <a:cxnLst/>
              <a:rect r="r" b="b" t="t" l="l"/>
              <a:pathLst>
                <a:path h="535262" w="1351972">
                  <a:moveTo>
                    <a:pt x="1351972" y="136566"/>
                  </a:moveTo>
                  <a:lnTo>
                    <a:pt x="1351972" y="398696"/>
                  </a:lnTo>
                  <a:cubicBezTo>
                    <a:pt x="1351972" y="474120"/>
                    <a:pt x="1290829" y="535262"/>
                    <a:pt x="1215406" y="535262"/>
                  </a:cubicBezTo>
                  <a:lnTo>
                    <a:pt x="136566" y="535262"/>
                  </a:lnTo>
                  <a:cubicBezTo>
                    <a:pt x="100347" y="535262"/>
                    <a:pt x="65610" y="520874"/>
                    <a:pt x="39999" y="495263"/>
                  </a:cubicBezTo>
                  <a:cubicBezTo>
                    <a:pt x="14388" y="469652"/>
                    <a:pt x="0" y="434916"/>
                    <a:pt x="0" y="398696"/>
                  </a:cubicBezTo>
                  <a:lnTo>
                    <a:pt x="0" y="136566"/>
                  </a:lnTo>
                  <a:cubicBezTo>
                    <a:pt x="0" y="61143"/>
                    <a:pt x="61143" y="0"/>
                    <a:pt x="136566" y="0"/>
                  </a:cubicBezTo>
                  <a:lnTo>
                    <a:pt x="1215406" y="0"/>
                  </a:lnTo>
                  <a:cubicBezTo>
                    <a:pt x="1290829" y="0"/>
                    <a:pt x="1351972" y="61143"/>
                    <a:pt x="1351972" y="136566"/>
                  </a:cubicBezTo>
                  <a:close/>
                </a:path>
              </a:pathLst>
            </a:custGeom>
            <a:ln w="85725" cap="rnd">
              <a:solidFill>
                <a:srgbClr val="E08A48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51972" cy="573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325438" y="6615299"/>
            <a:ext cx="3212466" cy="12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3589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Admin R</a:t>
            </a:r>
            <a:r>
              <a:rPr lang="en-US" b="true" sz="3589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eview Gate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453474" y="6485243"/>
            <a:ext cx="3684843" cy="1458682"/>
            <a:chOff x="0" y="0"/>
            <a:chExt cx="1351972" cy="5352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1972" cy="535262"/>
            </a:xfrm>
            <a:custGeom>
              <a:avLst/>
              <a:gdLst/>
              <a:ahLst/>
              <a:cxnLst/>
              <a:rect r="r" b="b" t="t" l="l"/>
              <a:pathLst>
                <a:path h="535262" w="1351972">
                  <a:moveTo>
                    <a:pt x="1351972" y="136566"/>
                  </a:moveTo>
                  <a:lnTo>
                    <a:pt x="1351972" y="398696"/>
                  </a:lnTo>
                  <a:cubicBezTo>
                    <a:pt x="1351972" y="474120"/>
                    <a:pt x="1290829" y="535262"/>
                    <a:pt x="1215406" y="535262"/>
                  </a:cubicBezTo>
                  <a:lnTo>
                    <a:pt x="136566" y="535262"/>
                  </a:lnTo>
                  <a:cubicBezTo>
                    <a:pt x="100347" y="535262"/>
                    <a:pt x="65610" y="520874"/>
                    <a:pt x="39999" y="495263"/>
                  </a:cubicBezTo>
                  <a:cubicBezTo>
                    <a:pt x="14388" y="469652"/>
                    <a:pt x="0" y="434916"/>
                    <a:pt x="0" y="398696"/>
                  </a:cubicBezTo>
                  <a:lnTo>
                    <a:pt x="0" y="136566"/>
                  </a:lnTo>
                  <a:cubicBezTo>
                    <a:pt x="0" y="61143"/>
                    <a:pt x="61143" y="0"/>
                    <a:pt x="136566" y="0"/>
                  </a:cubicBezTo>
                  <a:lnTo>
                    <a:pt x="1215406" y="0"/>
                  </a:lnTo>
                  <a:cubicBezTo>
                    <a:pt x="1290829" y="0"/>
                    <a:pt x="1351972" y="61143"/>
                    <a:pt x="1351972" y="136566"/>
                  </a:cubicBezTo>
                  <a:close/>
                </a:path>
              </a:pathLst>
            </a:custGeom>
            <a:ln w="85725" cap="rnd">
              <a:solidFill>
                <a:srgbClr val="386FA4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351972" cy="573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680196" y="6615299"/>
            <a:ext cx="3212466" cy="125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  <a:spcBef>
                <a:spcPct val="0"/>
              </a:spcBef>
            </a:pPr>
            <a:r>
              <a:rPr lang="en-US" b="true" sz="3589">
                <a:solidFill>
                  <a:srgbClr val="386FA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Admin Review Gate</a:t>
            </a:r>
          </a:p>
        </p:txBody>
      </p:sp>
      <p:sp>
        <p:nvSpPr>
          <p:cNvPr name="Freeform 43" id="43"/>
          <p:cNvSpPr/>
          <p:nvPr/>
        </p:nvSpPr>
        <p:spPr>
          <a:xfrm>
            <a:off x="10295896" y="3268176"/>
            <a:ext cx="707174" cy="3217068"/>
          </a:xfrm>
          <a:custGeom>
            <a:avLst/>
            <a:gdLst/>
            <a:ahLst/>
            <a:cxnLst/>
            <a:rect r="r" b="b" t="t" l="l"/>
            <a:pathLst>
              <a:path h="3217068" w="707174">
                <a:moveTo>
                  <a:pt x="707173" y="0"/>
                </a:moveTo>
                <a:lnTo>
                  <a:pt x="707173" y="1398983"/>
                </a:lnTo>
                <a:cubicBezTo>
                  <a:pt x="707173" y="1454559"/>
                  <a:pt x="685096" y="1507859"/>
                  <a:pt x="645797" y="1547158"/>
                </a:cubicBezTo>
                <a:cubicBezTo>
                  <a:pt x="606500" y="1586456"/>
                  <a:pt x="553200" y="1608533"/>
                  <a:pt x="497623" y="1608533"/>
                </a:cubicBezTo>
                <a:lnTo>
                  <a:pt x="209550" y="1608533"/>
                </a:lnTo>
                <a:cubicBezTo>
                  <a:pt x="153973" y="1608533"/>
                  <a:pt x="100673" y="1630611"/>
                  <a:pt x="61376" y="1669909"/>
                </a:cubicBezTo>
                <a:cubicBezTo>
                  <a:pt x="22077" y="1709207"/>
                  <a:pt x="0" y="1762507"/>
                  <a:pt x="0" y="1818083"/>
                </a:cubicBezTo>
                <a:lnTo>
                  <a:pt x="0" y="3217067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flipH="true" flipV="true">
            <a:off x="15950604" y="5958535"/>
            <a:ext cx="37207" cy="629289"/>
          </a:xfrm>
          <a:prstGeom prst="line">
            <a:avLst/>
          </a:prstGeom>
          <a:ln cap="flat" w="57150">
            <a:solidFill>
              <a:srgbClr val="E08A4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>
            <a:off x="13425015" y="7943926"/>
            <a:ext cx="2516122" cy="809625"/>
          </a:xfrm>
          <a:custGeom>
            <a:avLst/>
            <a:gdLst/>
            <a:ahLst/>
            <a:cxnLst/>
            <a:rect r="r" b="b" t="t" l="l"/>
            <a:pathLst>
              <a:path h="809625" w="2516122">
                <a:moveTo>
                  <a:pt x="0" y="809625"/>
                </a:moveTo>
                <a:lnTo>
                  <a:pt x="1029461" y="809625"/>
                </a:lnTo>
                <a:cubicBezTo>
                  <a:pt x="1155714" y="809625"/>
                  <a:pt x="1258061" y="707277"/>
                  <a:pt x="1258061" y="581025"/>
                </a:cubicBezTo>
                <a:lnTo>
                  <a:pt x="1258061" y="228600"/>
                </a:lnTo>
                <a:cubicBezTo>
                  <a:pt x="1258061" y="102348"/>
                  <a:pt x="1360408" y="0"/>
                  <a:pt x="1486661" y="0"/>
                </a:cubicBezTo>
                <a:lnTo>
                  <a:pt x="2516122" y="0"/>
                </a:lnTo>
              </a:path>
            </a:pathLst>
          </a:custGeom>
          <a:ln cap="flat" w="57150">
            <a:solidFill>
              <a:srgbClr val="E08A4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>
            <a:off x="10295896" y="7943926"/>
            <a:ext cx="3129119" cy="809625"/>
          </a:xfrm>
          <a:custGeom>
            <a:avLst/>
            <a:gdLst/>
            <a:ahLst/>
            <a:cxnLst/>
            <a:rect r="r" b="b" t="t" l="l"/>
            <a:pathLst>
              <a:path h="809625" w="3129119">
                <a:moveTo>
                  <a:pt x="3129119" y="809625"/>
                </a:moveTo>
                <a:lnTo>
                  <a:pt x="1793159" y="809625"/>
                </a:lnTo>
                <a:cubicBezTo>
                  <a:pt x="1666907" y="809625"/>
                  <a:pt x="1564559" y="707277"/>
                  <a:pt x="1564559" y="581025"/>
                </a:cubicBezTo>
                <a:lnTo>
                  <a:pt x="1564559" y="228600"/>
                </a:lnTo>
                <a:cubicBezTo>
                  <a:pt x="1564559" y="102348"/>
                  <a:pt x="1462211" y="0"/>
                  <a:pt x="1335959" y="0"/>
                </a:cubicBezTo>
                <a:lnTo>
                  <a:pt x="0" y="0"/>
                </a:lnTo>
              </a:path>
            </a:pathLst>
          </a:custGeom>
          <a:ln cap="flat" w="57150">
            <a:solidFill>
              <a:srgbClr val="386FA4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  <p:transition spd="fast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11994" y="8891970"/>
            <a:ext cx="7547306" cy="1280279"/>
            <a:chOff x="0" y="0"/>
            <a:chExt cx="1987768" cy="337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11994" y="7368666"/>
            <a:ext cx="7547306" cy="1280279"/>
            <a:chOff x="0" y="0"/>
            <a:chExt cx="1987768" cy="337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768" cy="337193"/>
            </a:xfrm>
            <a:custGeom>
              <a:avLst/>
              <a:gdLst/>
              <a:ahLst/>
              <a:cxnLst/>
              <a:rect r="r" b="b" t="t" l="l"/>
              <a:pathLst>
                <a:path h="337193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93084"/>
                  </a:lnTo>
                  <a:cubicBezTo>
                    <a:pt x="1987768" y="304782"/>
                    <a:pt x="1983121" y="316002"/>
                    <a:pt x="1974849" y="324274"/>
                  </a:cubicBezTo>
                  <a:cubicBezTo>
                    <a:pt x="1966577" y="332546"/>
                    <a:pt x="1955357" y="337193"/>
                    <a:pt x="1943659" y="337193"/>
                  </a:cubicBezTo>
                  <a:lnTo>
                    <a:pt x="44109" y="337193"/>
                  </a:lnTo>
                  <a:cubicBezTo>
                    <a:pt x="32410" y="337193"/>
                    <a:pt x="21191" y="332546"/>
                    <a:pt x="12919" y="324274"/>
                  </a:cubicBezTo>
                  <a:cubicBezTo>
                    <a:pt x="4647" y="316002"/>
                    <a:pt x="0" y="304782"/>
                    <a:pt x="0" y="293084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87768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1994" y="5886838"/>
            <a:ext cx="7547306" cy="1238802"/>
            <a:chOff x="0" y="0"/>
            <a:chExt cx="1987768" cy="326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7768" cy="326269"/>
            </a:xfrm>
            <a:custGeom>
              <a:avLst/>
              <a:gdLst/>
              <a:ahLst/>
              <a:cxnLst/>
              <a:rect r="r" b="b" t="t" l="l"/>
              <a:pathLst>
                <a:path h="326269" w="1987768">
                  <a:moveTo>
                    <a:pt x="44109" y="0"/>
                  </a:moveTo>
                  <a:lnTo>
                    <a:pt x="1943659" y="0"/>
                  </a:lnTo>
                  <a:cubicBezTo>
                    <a:pt x="1955357" y="0"/>
                    <a:pt x="1966577" y="4647"/>
                    <a:pt x="1974849" y="12919"/>
                  </a:cubicBezTo>
                  <a:cubicBezTo>
                    <a:pt x="1983121" y="21191"/>
                    <a:pt x="1987768" y="32410"/>
                    <a:pt x="1987768" y="44109"/>
                  </a:cubicBezTo>
                  <a:lnTo>
                    <a:pt x="1987768" y="282160"/>
                  </a:lnTo>
                  <a:cubicBezTo>
                    <a:pt x="1987768" y="293858"/>
                    <a:pt x="1983121" y="305078"/>
                    <a:pt x="1974849" y="313350"/>
                  </a:cubicBezTo>
                  <a:cubicBezTo>
                    <a:pt x="1966577" y="321622"/>
                    <a:pt x="1955357" y="326269"/>
                    <a:pt x="1943659" y="326269"/>
                  </a:cubicBezTo>
                  <a:lnTo>
                    <a:pt x="44109" y="326269"/>
                  </a:lnTo>
                  <a:cubicBezTo>
                    <a:pt x="32410" y="326269"/>
                    <a:pt x="21191" y="321622"/>
                    <a:pt x="12919" y="313350"/>
                  </a:cubicBezTo>
                  <a:cubicBezTo>
                    <a:pt x="4647" y="305078"/>
                    <a:pt x="0" y="293858"/>
                    <a:pt x="0" y="282160"/>
                  </a:cubicBezTo>
                  <a:lnTo>
                    <a:pt x="0" y="44109"/>
                  </a:lnTo>
                  <a:cubicBezTo>
                    <a:pt x="0" y="32410"/>
                    <a:pt x="4647" y="21191"/>
                    <a:pt x="12919" y="12919"/>
                  </a:cubicBezTo>
                  <a:cubicBezTo>
                    <a:pt x="21191" y="4647"/>
                    <a:pt x="32410" y="0"/>
                    <a:pt x="44109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7768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9615" y="428942"/>
            <a:ext cx="1033007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ore User Flow: Borrowing a Book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406" y="8871232"/>
            <a:ext cx="8294177" cy="1280279"/>
            <a:chOff x="0" y="0"/>
            <a:chExt cx="2184474" cy="337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4406" y="7347928"/>
            <a:ext cx="8294177" cy="1280279"/>
            <a:chOff x="0" y="0"/>
            <a:chExt cx="2184474" cy="337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474" cy="337193"/>
            </a:xfrm>
            <a:custGeom>
              <a:avLst/>
              <a:gdLst/>
              <a:ahLst/>
              <a:cxnLst/>
              <a:rect r="r" b="b" t="t" l="l"/>
              <a:pathLst>
                <a:path h="337193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97056"/>
                  </a:lnTo>
                  <a:cubicBezTo>
                    <a:pt x="2184474" y="307701"/>
                    <a:pt x="2180246" y="317910"/>
                    <a:pt x="2172719" y="325437"/>
                  </a:cubicBezTo>
                  <a:cubicBezTo>
                    <a:pt x="2165191" y="332964"/>
                    <a:pt x="2154982" y="337193"/>
                    <a:pt x="2144338" y="337193"/>
                  </a:cubicBezTo>
                  <a:lnTo>
                    <a:pt x="40137" y="337193"/>
                  </a:lnTo>
                  <a:cubicBezTo>
                    <a:pt x="29492" y="337193"/>
                    <a:pt x="19283" y="332964"/>
                    <a:pt x="11756" y="325437"/>
                  </a:cubicBezTo>
                  <a:cubicBezTo>
                    <a:pt x="4229" y="317910"/>
                    <a:pt x="0" y="307701"/>
                    <a:pt x="0" y="297056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84474" cy="375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4406" y="5866100"/>
            <a:ext cx="8294177" cy="1238802"/>
            <a:chOff x="0" y="0"/>
            <a:chExt cx="2184474" cy="3262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4474" cy="326269"/>
            </a:xfrm>
            <a:custGeom>
              <a:avLst/>
              <a:gdLst/>
              <a:ahLst/>
              <a:cxnLst/>
              <a:rect r="r" b="b" t="t" l="l"/>
              <a:pathLst>
                <a:path h="326269" w="2184474">
                  <a:moveTo>
                    <a:pt x="40137" y="0"/>
                  </a:moveTo>
                  <a:lnTo>
                    <a:pt x="2144338" y="0"/>
                  </a:lnTo>
                  <a:cubicBezTo>
                    <a:pt x="2154982" y="0"/>
                    <a:pt x="2165191" y="4229"/>
                    <a:pt x="2172719" y="11756"/>
                  </a:cubicBezTo>
                  <a:cubicBezTo>
                    <a:pt x="2180246" y="19283"/>
                    <a:pt x="2184474" y="29492"/>
                    <a:pt x="2184474" y="40137"/>
                  </a:cubicBezTo>
                  <a:lnTo>
                    <a:pt x="2184474" y="286132"/>
                  </a:lnTo>
                  <a:cubicBezTo>
                    <a:pt x="2184474" y="296777"/>
                    <a:pt x="2180246" y="306986"/>
                    <a:pt x="2172719" y="314513"/>
                  </a:cubicBezTo>
                  <a:cubicBezTo>
                    <a:pt x="2165191" y="322040"/>
                    <a:pt x="2154982" y="326269"/>
                    <a:pt x="2144338" y="326269"/>
                  </a:cubicBezTo>
                  <a:lnTo>
                    <a:pt x="40137" y="326269"/>
                  </a:lnTo>
                  <a:cubicBezTo>
                    <a:pt x="29492" y="326269"/>
                    <a:pt x="19283" y="322040"/>
                    <a:pt x="11756" y="314513"/>
                  </a:cubicBezTo>
                  <a:cubicBezTo>
                    <a:pt x="4229" y="306986"/>
                    <a:pt x="0" y="296777"/>
                    <a:pt x="0" y="286132"/>
                  </a:cubicBezTo>
                  <a:lnTo>
                    <a:pt x="0" y="40137"/>
                  </a:lnTo>
                  <a:cubicBezTo>
                    <a:pt x="0" y="29492"/>
                    <a:pt x="4229" y="19283"/>
                    <a:pt x="11756" y="11756"/>
                  </a:cubicBezTo>
                  <a:cubicBezTo>
                    <a:pt x="19283" y="4229"/>
                    <a:pt x="29492" y="0"/>
                    <a:pt x="40137" y="0"/>
                  </a:cubicBezTo>
                  <a:close/>
                </a:path>
              </a:pathLst>
            </a:custGeom>
            <a:solidFill>
              <a:srgbClr val="D6E4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84474" cy="36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39294" y="6091898"/>
            <a:ext cx="7942335" cy="11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Fac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ete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bro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ws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ing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allows students to filt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er the l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nding marke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 by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titl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e, cat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eg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ory, and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re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al-time ava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ilabi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lity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20165" y="7544740"/>
            <a:ext cx="8088417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Asynchr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on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 requests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allow borrowers to send targeted pings with optional direct messages.</a:t>
            </a:r>
          </a:p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20165" y="8988426"/>
            <a:ext cx="7790541" cy="11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ns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tant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no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ica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tion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aler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ts 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physical owner that their actively listed copy has a prospective borrower.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884055" y="6084816"/>
            <a:ext cx="7256115" cy="111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State transition</a:t>
            </a:r>
            <a:r>
              <a:rPr lang="en-US" b="true" sz="2111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tr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ls g</a:t>
            </a:r>
            <a:r>
              <a:rPr lang="en-US" sz="2111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rant the owner exclusive rights to move a request from pending to accepted or rejected.</a:t>
            </a:r>
          </a:p>
          <a:p>
            <a:pPr algn="ctr" marL="0" indent="0" lvl="0">
              <a:lnSpc>
                <a:spcPts val="3095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711994" y="7534042"/>
            <a:ext cx="7563624" cy="122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</a:t>
            </a:r>
            <a:r>
              <a:rPr lang="en-US" b="true" sz="23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oactive cancellation</a:t>
            </a:r>
            <a:r>
              <a:rPr lang="en-US" sz="23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allows the borrower to abort the request unilaterally before an owner responds.</a:t>
            </a:r>
          </a:p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971788" y="9078085"/>
            <a:ext cx="7044036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Physic</a:t>
            </a:r>
            <a:r>
              <a:rPr lang="en-US" b="true" sz="2500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 handover 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cc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urs off-plat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</a:t>
            </a:r>
            <a:r>
              <a:rPr lang="en-US" sz="25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 only after the accepted state is mutually confirmed.</a:t>
            </a:r>
          </a:p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7608058" y="2649502"/>
            <a:ext cx="3071884" cy="1025848"/>
            <a:chOff x="0" y="0"/>
            <a:chExt cx="1139987" cy="38074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9987" cy="380746"/>
            </a:xfrm>
            <a:custGeom>
              <a:avLst/>
              <a:gdLst/>
              <a:ahLst/>
              <a:cxnLst/>
              <a:rect r="r" b="b" t="t" l="l"/>
              <a:pathLst>
                <a:path h="380746" w="1139987">
                  <a:moveTo>
                    <a:pt x="1139987" y="163816"/>
                  </a:moveTo>
                  <a:lnTo>
                    <a:pt x="1139987" y="216930"/>
                  </a:lnTo>
                  <a:cubicBezTo>
                    <a:pt x="1139987" y="307403"/>
                    <a:pt x="1066644" y="380746"/>
                    <a:pt x="976170" y="380746"/>
                  </a:cubicBezTo>
                  <a:lnTo>
                    <a:pt x="163816" y="380746"/>
                  </a:lnTo>
                  <a:cubicBezTo>
                    <a:pt x="120370" y="380746"/>
                    <a:pt x="78702" y="363487"/>
                    <a:pt x="47981" y="332765"/>
                  </a:cubicBezTo>
                  <a:cubicBezTo>
                    <a:pt x="17259" y="302044"/>
                    <a:pt x="0" y="260376"/>
                    <a:pt x="0" y="216930"/>
                  </a:cubicBezTo>
                  <a:lnTo>
                    <a:pt x="0" y="163816"/>
                  </a:lnTo>
                  <a:cubicBezTo>
                    <a:pt x="0" y="73343"/>
                    <a:pt x="73343" y="0"/>
                    <a:pt x="163816" y="0"/>
                  </a:cubicBezTo>
                  <a:lnTo>
                    <a:pt x="976170" y="0"/>
                  </a:lnTo>
                  <a:cubicBezTo>
                    <a:pt x="1019617" y="0"/>
                    <a:pt x="1061285" y="17259"/>
                    <a:pt x="1092006" y="47981"/>
                  </a:cubicBezTo>
                  <a:cubicBezTo>
                    <a:pt x="1122728" y="78702"/>
                    <a:pt x="1139987" y="120370"/>
                    <a:pt x="1139987" y="163816"/>
                  </a:cubicBezTo>
                  <a:close/>
                </a:path>
              </a:pathLst>
            </a:custGeom>
            <a:ln w="85725" cap="rnd">
              <a:solidFill>
                <a:srgbClr val="E08A48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3998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150720" y="2786746"/>
            <a:ext cx="1986561" cy="60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48">
                <a:solidFill>
                  <a:srgbClr val="D47035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Pending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08058" y="4257801"/>
            <a:ext cx="3071884" cy="1025848"/>
            <a:chOff x="0" y="0"/>
            <a:chExt cx="1139987" cy="38074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9987" cy="380746"/>
            </a:xfrm>
            <a:custGeom>
              <a:avLst/>
              <a:gdLst/>
              <a:ahLst/>
              <a:cxnLst/>
              <a:rect r="r" b="b" t="t" l="l"/>
              <a:pathLst>
                <a:path h="380746" w="1139987">
                  <a:moveTo>
                    <a:pt x="1139987" y="163816"/>
                  </a:moveTo>
                  <a:lnTo>
                    <a:pt x="1139987" y="216930"/>
                  </a:lnTo>
                  <a:cubicBezTo>
                    <a:pt x="1139987" y="307403"/>
                    <a:pt x="1066644" y="380746"/>
                    <a:pt x="976170" y="380746"/>
                  </a:cubicBezTo>
                  <a:lnTo>
                    <a:pt x="163816" y="380746"/>
                  </a:lnTo>
                  <a:cubicBezTo>
                    <a:pt x="120370" y="380746"/>
                    <a:pt x="78702" y="363487"/>
                    <a:pt x="47981" y="332765"/>
                  </a:cubicBezTo>
                  <a:cubicBezTo>
                    <a:pt x="17259" y="302044"/>
                    <a:pt x="0" y="260376"/>
                    <a:pt x="0" y="216930"/>
                  </a:cubicBezTo>
                  <a:lnTo>
                    <a:pt x="0" y="163816"/>
                  </a:lnTo>
                  <a:cubicBezTo>
                    <a:pt x="0" y="73343"/>
                    <a:pt x="73343" y="0"/>
                    <a:pt x="163816" y="0"/>
                  </a:cubicBezTo>
                  <a:lnTo>
                    <a:pt x="976170" y="0"/>
                  </a:lnTo>
                  <a:cubicBezTo>
                    <a:pt x="1019617" y="0"/>
                    <a:pt x="1061285" y="17259"/>
                    <a:pt x="1092006" y="47981"/>
                  </a:cubicBezTo>
                  <a:cubicBezTo>
                    <a:pt x="1122728" y="78702"/>
                    <a:pt x="1139987" y="120370"/>
                    <a:pt x="1139987" y="163816"/>
                  </a:cubicBezTo>
                  <a:close/>
                </a:path>
              </a:pathLst>
            </a:custGeom>
            <a:ln w="85725" cap="rnd">
              <a:solidFill>
                <a:srgbClr val="FF2828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3998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150720" y="4395045"/>
            <a:ext cx="1986561" cy="60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48">
                <a:solidFill>
                  <a:srgbClr val="FF282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Rejected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210170" y="4257801"/>
            <a:ext cx="3071884" cy="1025848"/>
            <a:chOff x="0" y="0"/>
            <a:chExt cx="1139987" cy="3807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9987" cy="380746"/>
            </a:xfrm>
            <a:custGeom>
              <a:avLst/>
              <a:gdLst/>
              <a:ahLst/>
              <a:cxnLst/>
              <a:rect r="r" b="b" t="t" l="l"/>
              <a:pathLst>
                <a:path h="380746" w="1139987">
                  <a:moveTo>
                    <a:pt x="1139987" y="163816"/>
                  </a:moveTo>
                  <a:lnTo>
                    <a:pt x="1139987" y="216930"/>
                  </a:lnTo>
                  <a:cubicBezTo>
                    <a:pt x="1139987" y="307403"/>
                    <a:pt x="1066644" y="380746"/>
                    <a:pt x="976170" y="380746"/>
                  </a:cubicBezTo>
                  <a:lnTo>
                    <a:pt x="163816" y="380746"/>
                  </a:lnTo>
                  <a:cubicBezTo>
                    <a:pt x="120370" y="380746"/>
                    <a:pt x="78702" y="363487"/>
                    <a:pt x="47981" y="332765"/>
                  </a:cubicBezTo>
                  <a:cubicBezTo>
                    <a:pt x="17259" y="302044"/>
                    <a:pt x="0" y="260376"/>
                    <a:pt x="0" y="216930"/>
                  </a:cubicBezTo>
                  <a:lnTo>
                    <a:pt x="0" y="163816"/>
                  </a:lnTo>
                  <a:cubicBezTo>
                    <a:pt x="0" y="73343"/>
                    <a:pt x="73343" y="0"/>
                    <a:pt x="163816" y="0"/>
                  </a:cubicBezTo>
                  <a:lnTo>
                    <a:pt x="976170" y="0"/>
                  </a:lnTo>
                  <a:cubicBezTo>
                    <a:pt x="1019617" y="0"/>
                    <a:pt x="1061285" y="17259"/>
                    <a:pt x="1092006" y="47981"/>
                  </a:cubicBezTo>
                  <a:cubicBezTo>
                    <a:pt x="1122728" y="78702"/>
                    <a:pt x="1139987" y="120370"/>
                    <a:pt x="1139987" y="163816"/>
                  </a:cubicBezTo>
                  <a:close/>
                </a:path>
              </a:pathLst>
            </a:custGeom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39987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513251" y="4395045"/>
            <a:ext cx="2385862" cy="60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48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Cancelled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493806" y="1514158"/>
            <a:ext cx="3340394" cy="1114877"/>
            <a:chOff x="0" y="0"/>
            <a:chExt cx="1140640" cy="3807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0640" cy="380746"/>
            </a:xfrm>
            <a:custGeom>
              <a:avLst/>
              <a:gdLst/>
              <a:ahLst/>
              <a:cxnLst/>
              <a:rect r="r" b="b" t="t" l="l"/>
              <a:pathLst>
                <a:path h="380746" w="1140640">
                  <a:moveTo>
                    <a:pt x="1140640" y="150648"/>
                  </a:moveTo>
                  <a:lnTo>
                    <a:pt x="1140640" y="230098"/>
                  </a:lnTo>
                  <a:cubicBezTo>
                    <a:pt x="1140640" y="313298"/>
                    <a:pt x="1073193" y="380746"/>
                    <a:pt x="989992" y="380746"/>
                  </a:cubicBezTo>
                  <a:lnTo>
                    <a:pt x="150648" y="380746"/>
                  </a:lnTo>
                  <a:cubicBezTo>
                    <a:pt x="67448" y="380746"/>
                    <a:pt x="0" y="313298"/>
                    <a:pt x="0" y="230098"/>
                  </a:cubicBezTo>
                  <a:lnTo>
                    <a:pt x="0" y="150648"/>
                  </a:lnTo>
                  <a:cubicBezTo>
                    <a:pt x="0" y="67448"/>
                    <a:pt x="67448" y="0"/>
                    <a:pt x="150648" y="0"/>
                  </a:cubicBezTo>
                  <a:lnTo>
                    <a:pt x="989992" y="0"/>
                  </a:lnTo>
                  <a:cubicBezTo>
                    <a:pt x="1029946" y="0"/>
                    <a:pt x="1068264" y="15872"/>
                    <a:pt x="1096516" y="44124"/>
                  </a:cubicBezTo>
                  <a:cubicBezTo>
                    <a:pt x="1124768" y="72376"/>
                    <a:pt x="1140640" y="110694"/>
                    <a:pt x="1140640" y="150648"/>
                  </a:cubicBezTo>
                  <a:close/>
                </a:path>
              </a:pathLst>
            </a:custGeom>
            <a:ln w="85725" cap="rnd">
              <a:solidFill>
                <a:srgbClr val="53B087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140640" cy="418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4029090" y="1712293"/>
            <a:ext cx="2269825" cy="65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  <a:spcBef>
                <a:spcPct val="0"/>
              </a:spcBef>
            </a:pPr>
            <a:r>
              <a:rPr lang="en-US" b="true" sz="3856">
                <a:solidFill>
                  <a:srgbClr val="3A8C6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Activated</a:t>
            </a:r>
          </a:p>
        </p:txBody>
      </p:sp>
      <p:sp>
        <p:nvSpPr>
          <p:cNvPr name="Freeform 43" id="43"/>
          <p:cNvSpPr/>
          <p:nvPr/>
        </p:nvSpPr>
        <p:spPr>
          <a:xfrm>
            <a:off x="9187283" y="2071596"/>
            <a:ext cx="4412280" cy="530507"/>
          </a:xfrm>
          <a:custGeom>
            <a:avLst/>
            <a:gdLst/>
            <a:ahLst/>
            <a:cxnLst/>
            <a:rect r="r" b="b" t="t" l="l"/>
            <a:pathLst>
              <a:path h="530507" w="4412280">
                <a:moveTo>
                  <a:pt x="0" y="530507"/>
                </a:moveTo>
                <a:lnTo>
                  <a:pt x="0" y="228600"/>
                </a:lnTo>
                <a:cubicBezTo>
                  <a:pt x="0" y="167972"/>
                  <a:pt x="24085" y="109826"/>
                  <a:pt x="66956" y="66956"/>
                </a:cubicBezTo>
                <a:cubicBezTo>
                  <a:pt x="109826" y="24085"/>
                  <a:pt x="167972" y="0"/>
                  <a:pt x="228600" y="0"/>
                </a:cubicBezTo>
                <a:lnTo>
                  <a:pt x="4375498" y="0"/>
                </a:lnTo>
                <a:cubicBezTo>
                  <a:pt x="4385254" y="0"/>
                  <a:pt x="4394609" y="3876"/>
                  <a:pt x="4401508" y="10773"/>
                </a:cubicBezTo>
                <a:cubicBezTo>
                  <a:pt x="4408405" y="17671"/>
                  <a:pt x="4412281" y="27027"/>
                  <a:pt x="4412281" y="36782"/>
                </a:cubicBezTo>
                <a:lnTo>
                  <a:pt x="4412281" y="73565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4" id="44"/>
          <p:cNvSpPr/>
          <p:nvPr/>
        </p:nvSpPr>
        <p:spPr>
          <a:xfrm>
            <a:off x="3706182" y="3333490"/>
            <a:ext cx="3976401" cy="780891"/>
          </a:xfrm>
          <a:custGeom>
            <a:avLst/>
            <a:gdLst/>
            <a:ahLst/>
            <a:cxnLst/>
            <a:rect r="r" b="b" t="t" l="l"/>
            <a:pathLst>
              <a:path h="780891" w="3976401">
                <a:moveTo>
                  <a:pt x="3976401" y="0"/>
                </a:moveTo>
                <a:lnTo>
                  <a:pt x="2216801" y="0"/>
                </a:lnTo>
                <a:cubicBezTo>
                  <a:pt x="2156172" y="0"/>
                  <a:pt x="2098027" y="24085"/>
                  <a:pt x="2055156" y="66955"/>
                </a:cubicBezTo>
                <a:cubicBezTo>
                  <a:pt x="2012285" y="109826"/>
                  <a:pt x="1988201" y="167971"/>
                  <a:pt x="1988201" y="228600"/>
                </a:cubicBezTo>
                <a:lnTo>
                  <a:pt x="1988201" y="552291"/>
                </a:lnTo>
                <a:cubicBezTo>
                  <a:pt x="1988201" y="612920"/>
                  <a:pt x="1964116" y="671065"/>
                  <a:pt x="1921245" y="713936"/>
                </a:cubicBezTo>
                <a:cubicBezTo>
                  <a:pt x="1878374" y="756807"/>
                  <a:pt x="1820229" y="780891"/>
                  <a:pt x="1759601" y="780891"/>
                </a:cubicBezTo>
                <a:lnTo>
                  <a:pt x="0" y="780891"/>
                </a:lnTo>
              </a:path>
            </a:pathLst>
          </a:cu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>
            <a:off x="9144000" y="3675350"/>
            <a:ext cx="0" cy="582451"/>
          </a:xfrm>
          <a:prstGeom prst="line">
            <a:avLst/>
          </a:prstGeom>
          <a:ln cap="flat" w="57150">
            <a:solidFill>
              <a:srgbClr val="2A507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6" id="46"/>
          <p:cNvSpPr txBox="true"/>
          <p:nvPr/>
        </p:nvSpPr>
        <p:spPr>
          <a:xfrm rot="0">
            <a:off x="9353550" y="3703925"/>
            <a:ext cx="20843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F4662"/>
                </a:solidFill>
                <a:latin typeface="Canva Sans"/>
                <a:ea typeface="Canva Sans"/>
                <a:cs typeface="Canva Sans"/>
                <a:sym typeface="Canva Sans"/>
              </a:rPr>
              <a:t>Owner Action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40183" y="1544018"/>
            <a:ext cx="20843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F4662"/>
                </a:solidFill>
                <a:latin typeface="Canva Sans"/>
                <a:ea typeface="Canva Sans"/>
                <a:cs typeface="Canva Sans"/>
                <a:sym typeface="Canva Sans"/>
              </a:rPr>
              <a:t>Owner Action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3587876"/>
            <a:ext cx="25065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F4662"/>
                </a:solidFill>
                <a:latin typeface="Canva Sans"/>
                <a:ea typeface="Canva Sans"/>
                <a:cs typeface="Canva Sans"/>
                <a:sym typeface="Canva Sans"/>
              </a:rPr>
              <a:t>Borrower Action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0741494" y="2700964"/>
            <a:ext cx="696364" cy="802936"/>
          </a:xfrm>
          <a:custGeom>
            <a:avLst/>
            <a:gdLst/>
            <a:ahLst/>
            <a:cxnLst/>
            <a:rect r="r" b="b" t="t" l="l"/>
            <a:pathLst>
              <a:path h="802936" w="696364">
                <a:moveTo>
                  <a:pt x="0" y="0"/>
                </a:moveTo>
                <a:lnTo>
                  <a:pt x="696364" y="0"/>
                </a:lnTo>
                <a:lnTo>
                  <a:pt x="696364" y="802936"/>
                </a:lnTo>
                <a:lnTo>
                  <a:pt x="0" y="80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1495008" y="2776190"/>
            <a:ext cx="409841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4A90A4"/>
                </a:solidFill>
                <a:latin typeface="Canva Sans"/>
                <a:ea typeface="Canva Sans"/>
                <a:cs typeface="Canva Sans"/>
                <a:sym typeface="Canva Sans"/>
              </a:rPr>
              <a:t>Optional Direct Message attached to request</a:t>
            </a:r>
          </a:p>
        </p:txBody>
      </p:sp>
    </p:spTree>
  </p:cSld>
  <p:clrMapOvr>
    <a:masterClrMapping/>
  </p:clrMapOvr>
  <p:transition spd="fast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03186" y="3038864"/>
            <a:ext cx="863400" cy="675610"/>
          </a:xfrm>
          <a:custGeom>
            <a:avLst/>
            <a:gdLst/>
            <a:ahLst/>
            <a:cxnLst/>
            <a:rect r="r" b="b" t="t" l="l"/>
            <a:pathLst>
              <a:path h="675610" w="863400">
                <a:moveTo>
                  <a:pt x="0" y="0"/>
                </a:moveTo>
                <a:lnTo>
                  <a:pt x="863400" y="0"/>
                </a:lnTo>
                <a:lnTo>
                  <a:pt x="863400" y="675610"/>
                </a:lnTo>
                <a:lnTo>
                  <a:pt x="0" y="67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27381" y="3985346"/>
            <a:ext cx="838441" cy="838092"/>
          </a:xfrm>
          <a:custGeom>
            <a:avLst/>
            <a:gdLst/>
            <a:ahLst/>
            <a:cxnLst/>
            <a:rect r="r" b="b" t="t" l="l"/>
            <a:pathLst>
              <a:path h="838092" w="838441">
                <a:moveTo>
                  <a:pt x="0" y="0"/>
                </a:moveTo>
                <a:lnTo>
                  <a:pt x="838441" y="0"/>
                </a:lnTo>
                <a:lnTo>
                  <a:pt x="838441" y="838092"/>
                </a:lnTo>
                <a:lnTo>
                  <a:pt x="0" y="838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615" y="428942"/>
            <a:ext cx="1033007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Admin Pan</a:t>
            </a:r>
            <a:r>
              <a:rPr lang="en-US" b="true" sz="63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el &amp; Platform Control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6596" y="1900841"/>
            <a:ext cx="250126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i="true" strike="noStrike" u="none">
                <a:solidFill>
                  <a:srgbClr val="4A90A4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Permission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6001" y="1900841"/>
            <a:ext cx="529256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Standard Student Role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50001" y="1900841"/>
            <a:ext cx="449056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Adminis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to</a:t>
            </a:r>
            <a:r>
              <a:rPr lang="en-US" b="true" sz="5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 Role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366" y="3107341"/>
            <a:ext cx="5326928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Brow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 Lending 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366" y="4136764"/>
            <a:ext cx="5829776" cy="48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2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Access pages/admin/ routes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366" y="5167320"/>
            <a:ext cx="6444972" cy="4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3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Approv</a:t>
            </a: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New Book Suggestions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366" y="6196743"/>
            <a:ext cx="5585936" cy="487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1922" indent="-315961" lvl="1">
              <a:lnSpc>
                <a:spcPts val="40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 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/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Unb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 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Use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Acc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</a:t>
            </a:r>
            <a:r>
              <a:rPr lang="en-US" b="true" sz="29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066184" y="3154966"/>
            <a:ext cx="863400" cy="675610"/>
          </a:xfrm>
          <a:custGeom>
            <a:avLst/>
            <a:gdLst/>
            <a:ahLst/>
            <a:cxnLst/>
            <a:rect r="r" b="b" t="t" l="l"/>
            <a:pathLst>
              <a:path h="675610" w="863400">
                <a:moveTo>
                  <a:pt x="0" y="0"/>
                </a:moveTo>
                <a:lnTo>
                  <a:pt x="863399" y="0"/>
                </a:lnTo>
                <a:lnTo>
                  <a:pt x="863399" y="675610"/>
                </a:lnTo>
                <a:lnTo>
                  <a:pt x="0" y="67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66184" y="4184389"/>
            <a:ext cx="863400" cy="675610"/>
          </a:xfrm>
          <a:custGeom>
            <a:avLst/>
            <a:gdLst/>
            <a:ahLst/>
            <a:cxnLst/>
            <a:rect r="r" b="b" t="t" l="l"/>
            <a:pathLst>
              <a:path h="675610" w="863400">
                <a:moveTo>
                  <a:pt x="0" y="0"/>
                </a:moveTo>
                <a:lnTo>
                  <a:pt x="863399" y="0"/>
                </a:lnTo>
                <a:lnTo>
                  <a:pt x="863399" y="675610"/>
                </a:lnTo>
                <a:lnTo>
                  <a:pt x="0" y="67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66184" y="5098844"/>
            <a:ext cx="863400" cy="675610"/>
          </a:xfrm>
          <a:custGeom>
            <a:avLst/>
            <a:gdLst/>
            <a:ahLst/>
            <a:cxnLst/>
            <a:rect r="r" b="b" t="t" l="l"/>
            <a:pathLst>
              <a:path h="675610" w="863400">
                <a:moveTo>
                  <a:pt x="0" y="0"/>
                </a:moveTo>
                <a:lnTo>
                  <a:pt x="863399" y="0"/>
                </a:lnTo>
                <a:lnTo>
                  <a:pt x="863399" y="675610"/>
                </a:lnTo>
                <a:lnTo>
                  <a:pt x="0" y="67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66184" y="6126879"/>
            <a:ext cx="863400" cy="675610"/>
          </a:xfrm>
          <a:custGeom>
            <a:avLst/>
            <a:gdLst/>
            <a:ahLst/>
            <a:cxnLst/>
            <a:rect r="r" b="b" t="t" l="l"/>
            <a:pathLst>
              <a:path h="675610" w="863400">
                <a:moveTo>
                  <a:pt x="0" y="0"/>
                </a:moveTo>
                <a:lnTo>
                  <a:pt x="863399" y="0"/>
                </a:lnTo>
                <a:lnTo>
                  <a:pt x="863399" y="675610"/>
                </a:lnTo>
                <a:lnTo>
                  <a:pt x="0" y="67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27381" y="5098844"/>
            <a:ext cx="838441" cy="838092"/>
          </a:xfrm>
          <a:custGeom>
            <a:avLst/>
            <a:gdLst/>
            <a:ahLst/>
            <a:cxnLst/>
            <a:rect r="r" b="b" t="t" l="l"/>
            <a:pathLst>
              <a:path h="838092" w="838441">
                <a:moveTo>
                  <a:pt x="0" y="0"/>
                </a:moveTo>
                <a:lnTo>
                  <a:pt x="838441" y="0"/>
                </a:lnTo>
                <a:lnTo>
                  <a:pt x="838441" y="838092"/>
                </a:lnTo>
                <a:lnTo>
                  <a:pt x="0" y="838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27381" y="6126879"/>
            <a:ext cx="838441" cy="838092"/>
          </a:xfrm>
          <a:custGeom>
            <a:avLst/>
            <a:gdLst/>
            <a:ahLst/>
            <a:cxnLst/>
            <a:rect r="r" b="b" t="t" l="l"/>
            <a:pathLst>
              <a:path h="838092" w="838441">
                <a:moveTo>
                  <a:pt x="0" y="0"/>
                </a:moveTo>
                <a:lnTo>
                  <a:pt x="838441" y="0"/>
                </a:lnTo>
                <a:lnTo>
                  <a:pt x="838441" y="838092"/>
                </a:lnTo>
                <a:lnTo>
                  <a:pt x="0" y="838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26366" y="7326921"/>
            <a:ext cx="17144762" cy="40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975" indent="-261987" lvl="1">
              <a:lnSpc>
                <a:spcPts val="33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Isol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ated admin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istrative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domain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securely houses all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gover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nance tools exclus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iv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ly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un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der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pages/admin/ directory.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6366" y="7884402"/>
            <a:ext cx="15545515" cy="40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975" indent="-261987" lvl="1">
              <a:lnSpc>
                <a:spcPts val="33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Rou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te-level aut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ho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iz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ation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strictly blo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cks stan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dard s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tudents from accessing any administrative endpoints.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6366" y="8489508"/>
            <a:ext cx="14285714" cy="40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975" indent="-261987" lvl="1">
              <a:lnSpc>
                <a:spcPts val="33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Granu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lar account mo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ration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empo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wer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 admins to approve, reject, ban, or unban user profiles.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6366" y="9046989"/>
            <a:ext cx="15545515" cy="40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975" indent="-261987" lvl="1">
              <a:lnSpc>
                <a:spcPts val="33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26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Rou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te-level aut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ho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iz</a:t>
            </a: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ation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strictly blo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cks stan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dard s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tudents from accessing any administrative endpoints.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6366" y="9566370"/>
            <a:ext cx="17414196" cy="40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975" indent="-261987" lvl="1">
              <a:lnSpc>
                <a:spcPts val="339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26" strike="noStrike" u="non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Catalog hygiene enforcement </a:t>
            </a:r>
            <a:r>
              <a:rPr lang="en-US" sz="2426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routes all new book suggestions through a manual admin approval gate.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8064" y="1889685"/>
            <a:ext cx="1559272" cy="1559272"/>
          </a:xfrm>
          <a:custGeom>
            <a:avLst/>
            <a:gdLst/>
            <a:ahLst/>
            <a:cxnLst/>
            <a:rect r="r" b="b" t="t" l="l"/>
            <a:pathLst>
              <a:path h="1559272" w="1559272">
                <a:moveTo>
                  <a:pt x="0" y="0"/>
                </a:moveTo>
                <a:lnTo>
                  <a:pt x="1559272" y="0"/>
                </a:lnTo>
                <a:lnTo>
                  <a:pt x="1559272" y="1559272"/>
                </a:lnTo>
                <a:lnTo>
                  <a:pt x="0" y="155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17227" y="3264894"/>
            <a:ext cx="1159970" cy="1159970"/>
          </a:xfrm>
          <a:custGeom>
            <a:avLst/>
            <a:gdLst/>
            <a:ahLst/>
            <a:cxnLst/>
            <a:rect r="r" b="b" t="t" l="l"/>
            <a:pathLst>
              <a:path h="1159970" w="1159970">
                <a:moveTo>
                  <a:pt x="0" y="0"/>
                </a:moveTo>
                <a:lnTo>
                  <a:pt x="1159971" y="0"/>
                </a:lnTo>
                <a:lnTo>
                  <a:pt x="1159971" y="1159970"/>
                </a:lnTo>
                <a:lnTo>
                  <a:pt x="0" y="115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5247" y="5143500"/>
            <a:ext cx="1394732" cy="1394732"/>
          </a:xfrm>
          <a:custGeom>
            <a:avLst/>
            <a:gdLst/>
            <a:ahLst/>
            <a:cxnLst/>
            <a:rect r="r" b="b" t="t" l="l"/>
            <a:pathLst>
              <a:path h="1394732" w="1394732">
                <a:moveTo>
                  <a:pt x="0" y="0"/>
                </a:moveTo>
                <a:lnTo>
                  <a:pt x="1394731" y="0"/>
                </a:lnTo>
                <a:lnTo>
                  <a:pt x="1394731" y="1394732"/>
                </a:lnTo>
                <a:lnTo>
                  <a:pt x="0" y="1394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08049" y="6271727"/>
            <a:ext cx="1324854" cy="1324854"/>
          </a:xfrm>
          <a:custGeom>
            <a:avLst/>
            <a:gdLst/>
            <a:ahLst/>
            <a:cxnLst/>
            <a:rect r="r" b="b" t="t" l="l"/>
            <a:pathLst>
              <a:path h="1324854" w="1324854">
                <a:moveTo>
                  <a:pt x="0" y="0"/>
                </a:moveTo>
                <a:lnTo>
                  <a:pt x="1324854" y="0"/>
                </a:lnTo>
                <a:lnTo>
                  <a:pt x="1324854" y="1324854"/>
                </a:lnTo>
                <a:lnTo>
                  <a:pt x="0" y="1324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8562" y="258763"/>
            <a:ext cx="9870877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</a:t>
            </a:r>
            <a:r>
              <a:rPr lang="en-US" b="true" sz="8000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 Program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963" y="2247858"/>
            <a:ext cx="92192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RECOMMENDATION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128" y="3353707"/>
            <a:ext cx="137704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AI OPTIMIZES IMAGES OF BOOKS CAPTURED.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8128" y="4455432"/>
            <a:ext cx="1791987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AI-POWERED SEARCH: USER DOESN'T HAVE TO SEARCH BY EXACT NAME.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8128" y="6442982"/>
            <a:ext cx="92661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5199" i="true" strike="noStrike" u="non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INTEGRATE AN AI CHATBOT.</a:t>
            </a:r>
          </a:p>
        </p:txBody>
      </p:sp>
    </p:spTree>
  </p:cSld>
  <p:clrMapOvr>
    <a:masterClrMapping/>
  </p:clrMapOvr>
  <p:transition spd="fast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43669" y="3039497"/>
            <a:ext cx="19031669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0"/>
              </a:lnSpc>
              <a:spcBef>
                <a:spcPct val="0"/>
              </a:spcBef>
            </a:pPr>
            <a:r>
              <a:rPr lang="en-US" b="true" sz="20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you!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DAHIbKDGzro</dc:identifier>
  <dcterms:modified xsi:type="dcterms:W3CDTF">2011-08-01T06:04:30Z</dcterms:modified>
  <cp:revision>1</cp:revision>
  <dc:title>Book Orbit</dc:title>
</cp:coreProperties>
</file>